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48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msupplycheck-logo-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6400800" cy="426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34747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Georgia"/>
              </a:defRPr>
            </a:pPr>
            <a:r>
              <a:t>Find the right 3D printing supplier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48056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55555"/>
                </a:solidFill>
                <a:latin typeface="Arial"/>
              </a:defRPr>
            </a:pPr>
            <a:r>
              <a:t>- Simple, Transparent, Fast and For Free</a:t>
            </a:r>
          </a:p>
        </p:txBody>
      </p:sp>
      <p:pic>
        <p:nvPicPr>
          <p:cNvPr id="7" name="Picture 6" descr="brand-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2286000"/>
            <a:ext cx="2194560" cy="2194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69680" y="594360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66666"/>
                </a:solidFill>
                <a:latin typeface="Arial"/>
              </a:defRPr>
            </a:pPr>
            <a:r>
              <a:t>Partner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80160"/>
            <a:ext cx="12191695" cy="5577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Georgia"/>
              </a:defRPr>
            </a:pPr>
            <a:r>
              <a:t>What is SupplyCheck?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77295" y="0"/>
            <a:ext cx="914400" cy="1280160"/>
          </a:xfrm>
          <a:prstGeom prst="rect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7295" y="22860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pic>
        <p:nvPicPr>
          <p:cNvPr id="7" name="Picture 6" descr="amsupplycheck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37160"/>
            <a:ext cx="61722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Arial"/>
              </a:rPr>
              <a:t>A </a:t>
            </a:r>
            <a:r>
              <a:rPr sz="1600" b="1">
                <a:solidFill>
                  <a:srgbClr val="6B8F3C"/>
                </a:solidFill>
                <a:latin typeface="Arial"/>
              </a:rPr>
              <a:t>search engine</a:t>
            </a:r>
            <a:r>
              <a:rPr sz="1600" b="0">
                <a:solidFill>
                  <a:srgbClr val="333333"/>
                </a:solidFill>
                <a:latin typeface="Arial"/>
              </a:rPr>
              <a:t> that helps engineers and buyers find and compare 3D printing suppliers worldwide — based on technology, material, location, and price.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926080"/>
            <a:ext cx="20116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</a:pPr>
            <a:r>
              <a:rPr sz="2800">
                <a:solidFill>
                  <a:srgbClr val="1A1A1A"/>
                </a:solidFill>
              </a:rPr>
              <a:t>👤</a:t>
            </a:r>
          </a:p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Buyer</a:t>
            </a:r>
          </a:p>
          <a:p>
            <a:pPr algn="ctr"/>
            <a:r>
              <a:rPr sz="1100">
                <a:solidFill>
                  <a:srgbClr val="555555"/>
                </a:solidFill>
                <a:latin typeface="Arial"/>
              </a:rPr>
              <a:t>Uploads specs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2926080"/>
            <a:ext cx="2377440" cy="164592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</a:pPr>
            <a:r>
              <a:rPr sz="2800">
                <a:solidFill>
                  <a:srgbClr val="6B8F3C"/>
                </a:solidFill>
              </a:rPr>
              <a:t>✔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SupplyCheck</a:t>
            </a:r>
          </a:p>
          <a:p>
            <a:pPr algn="ctr"/>
            <a:r>
              <a:rPr sz="1100">
                <a:solidFill>
                  <a:srgbClr val="999999"/>
                </a:solidFill>
                <a:latin typeface="Arial"/>
              </a:rPr>
              <a:t>Matches &amp; compares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2926080"/>
            <a:ext cx="20116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</a:pPr>
            <a:r>
              <a:rPr sz="2800">
                <a:solidFill>
                  <a:srgbClr val="1A1A1A"/>
                </a:solidFill>
              </a:rPr>
              <a:t>🏭</a:t>
            </a:r>
          </a:p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Supplier</a:t>
            </a:r>
          </a:p>
          <a:p>
            <a:pPr algn="ctr"/>
            <a:r>
              <a:rPr sz="1100">
                <a:solidFill>
                  <a:srgbClr val="555555"/>
                </a:solidFill>
                <a:latin typeface="Arial"/>
              </a:rPr>
              <a:t>Gets the lead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566160" y="3474720"/>
            <a:ext cx="1097280" cy="548640"/>
          </a:xfrm>
          <a:prstGeom prst="rightArrow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7406640" y="3474720"/>
            <a:ext cx="1097280" cy="548640"/>
          </a:xfrm>
          <a:prstGeom prst="rightArrow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371600" y="5120640"/>
            <a:ext cx="292608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</a:pPr>
            <a:r>
              <a:rPr sz="2200" b="1">
                <a:solidFill>
                  <a:srgbClr val="6B8F3C"/>
                </a:solidFill>
                <a:latin typeface="Arial"/>
              </a:rPr>
              <a:t>100+</a:t>
            </a:r>
          </a:p>
          <a:p>
            <a:r>
              <a:rPr sz="1200">
                <a:solidFill>
                  <a:srgbClr val="555555"/>
                </a:solidFill>
                <a:latin typeface="Arial"/>
              </a:rPr>
              <a:t>Suppliers listed worldwide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5120640"/>
            <a:ext cx="292608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</a:pPr>
            <a:r>
              <a:rPr sz="2200" b="1">
                <a:solidFill>
                  <a:srgbClr val="6B8F3C"/>
                </a:solidFill>
                <a:latin typeface="Arial"/>
              </a:rPr>
              <a:t>Free</a:t>
            </a:r>
          </a:p>
          <a:p>
            <a:r>
              <a:rPr sz="1200">
                <a:solidFill>
                  <a:srgbClr val="555555"/>
                </a:solidFill>
                <a:latin typeface="Arial"/>
              </a:rPr>
              <a:t>For buyers to search &amp; compare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5120640"/>
            <a:ext cx="292608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</a:pPr>
            <a:r>
              <a:rPr sz="2200" b="1">
                <a:solidFill>
                  <a:srgbClr val="6B8F3C"/>
                </a:solidFill>
                <a:latin typeface="Arial"/>
              </a:rPr>
              <a:t>Direct</a:t>
            </a:r>
          </a:p>
          <a:p>
            <a:r>
              <a:rPr sz="1200">
                <a:solidFill>
                  <a:srgbClr val="555555"/>
                </a:solidFill>
                <a:latin typeface="Arial"/>
              </a:rPr>
              <a:t>Users go to your website directly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80160"/>
            <a:ext cx="12191695" cy="5577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Georgia"/>
              </a:defRPr>
            </a:pPr>
            <a:r>
              <a:t>How It Works for Suppliers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77295" y="0"/>
            <a:ext cx="914400" cy="1280160"/>
          </a:xfrm>
          <a:prstGeom prst="rect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7295" y="22860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pic>
        <p:nvPicPr>
          <p:cNvPr id="7" name="Picture 6" descr="amsupplycheck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37160"/>
            <a:ext cx="61722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6459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Arial"/>
              </a:rPr>
              <a:t>We drive </a:t>
            </a:r>
            <a:r>
              <a:rPr sz="1600" b="1">
                <a:solidFill>
                  <a:srgbClr val="6B8F3C"/>
                </a:solidFill>
                <a:latin typeface="Arial"/>
              </a:rPr>
              <a:t>qualified leads</a:t>
            </a:r>
            <a:r>
              <a:rPr sz="1600" b="0">
                <a:solidFill>
                  <a:srgbClr val="333333"/>
                </a:solidFill>
                <a:latin typeface="Arial"/>
              </a:rPr>
              <a:t> directly to your website.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457200" cy="457200"/>
          </a:xfrm>
          <a:prstGeom prst="roundRect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14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Arial"/>
              </a:rPr>
              <a:t>More Visibility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  <a:latin typeface="Arial"/>
              </a:rPr>
              <a:t>Your company appears when buyers search for your technologies and materials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457200" cy="457200"/>
          </a:xfrm>
          <a:prstGeom prst="roundRect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5204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Arial"/>
              </a:rPr>
              <a:t>Qualified Leads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  <a:latin typeface="Arial"/>
              </a:rPr>
              <a:t>We match the right customers to your specific capabilities and capacity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72000"/>
            <a:ext cx="457200" cy="457200"/>
          </a:xfrm>
          <a:prstGeom prst="roundRect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5262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Arial"/>
              </a:rPr>
              <a:t>Pay Per Lead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  <a:latin typeface="Arial"/>
              </a:rPr>
              <a:t>You only pay for the leads we deliver — $50 per qualified lead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577840"/>
            <a:ext cx="457200" cy="457200"/>
          </a:xfrm>
          <a:prstGeom prst="roundRect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5321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Arial"/>
              </a:rPr>
              <a:t>Performance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852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  <a:latin typeface="Arial"/>
              </a:rPr>
              <a:t>Track impressions, clicks, and leads with detailed analytics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2011680"/>
            <a:ext cx="4572000" cy="41148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2286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  <a:latin typeface="Arial"/>
              </a:rPr>
              <a:t>SUPPLIER DASHBOARD PREVIEW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2834640"/>
            <a:ext cx="1645920" cy="1097280"/>
          </a:xfrm>
          <a:prstGeom prst="roundRect">
            <a:avLst/>
          </a:prstGeom>
          <a:solidFill>
            <a:srgbClr val="2A3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</a:pPr>
            <a:r>
              <a:rPr sz="2800" b="1">
                <a:solidFill>
                  <a:srgbClr val="6B8F3C"/>
                </a:solidFill>
              </a:rPr>
              <a:t>248</a:t>
            </a:r>
          </a:p>
          <a:p>
            <a:pPr algn="ctr"/>
            <a:r>
              <a:rPr sz="1000">
                <a:solidFill>
                  <a:srgbClr val="888888"/>
                </a:solidFill>
              </a:rPr>
              <a:t>Impressions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2834640"/>
            <a:ext cx="1645920" cy="1097280"/>
          </a:xfrm>
          <a:prstGeom prst="roundRect">
            <a:avLst/>
          </a:prstGeom>
          <a:solidFill>
            <a:srgbClr val="2A3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</a:pPr>
            <a:r>
              <a:rPr sz="2800" b="1">
                <a:solidFill>
                  <a:srgbClr val="6B8F3C"/>
                </a:solidFill>
              </a:rPr>
              <a:t>34</a:t>
            </a:r>
          </a:p>
          <a:p>
            <a:pPr algn="ctr"/>
            <a:r>
              <a:rPr sz="1000">
                <a:solidFill>
                  <a:srgbClr val="888888"/>
                </a:solidFill>
              </a:rPr>
              <a:t>Clicks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206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Recent Searches Matching You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4572000"/>
            <a:ext cx="3657600" cy="347472"/>
          </a:xfrm>
          <a:prstGeom prst="round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79" y="4617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SLS - Nylon PA12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46177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8F3C"/>
                </a:solidFill>
              </a:rPr>
              <a:t>Sweden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4983480"/>
            <a:ext cx="3657600" cy="347472"/>
          </a:xfrm>
          <a:prstGeom prst="round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79" y="50292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FDM - ABS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50292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8F3C"/>
                </a:solidFill>
              </a:rPr>
              <a:t>Denmark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5394960"/>
            <a:ext cx="3657600" cy="347472"/>
          </a:xfrm>
          <a:prstGeom prst="round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79" y="54406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MJF - Nylon PA11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5440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8F3C"/>
                </a:solidFill>
              </a:rPr>
              <a:t>Norway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80160"/>
            <a:ext cx="12191695" cy="5577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Georgia"/>
              </a:defRPr>
            </a:pPr>
            <a:r>
              <a:t>Pricing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77295" y="0"/>
            <a:ext cx="914400" cy="1280160"/>
          </a:xfrm>
          <a:prstGeom prst="rect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7295" y="22860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Georgia"/>
              </a:defRPr>
            </a:pPr>
            <a:r>
              <a:t>4</a:t>
            </a:r>
          </a:p>
        </p:txBody>
      </p:sp>
      <p:pic>
        <p:nvPicPr>
          <p:cNvPr id="7" name="Picture 6" descr="amsupplycheck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37160"/>
            <a:ext cx="617220" cy="4114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1645920"/>
            <a:ext cx="34747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555555"/>
                </a:solidFill>
                <a:latin typeface="Arial"/>
              </a:rPr>
              <a:t>FREE LISTING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1A1A1A"/>
                </a:solidFill>
                <a:latin typeface="Georgia"/>
              </a:rPr>
              <a:t>$0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forever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200400"/>
            <a:ext cx="256032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3832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B8F3C"/>
                </a:solidFill>
              </a:rPr>
              <a:t>✔  </a:t>
            </a:r>
            <a:r>
              <a:rPr sz="1200">
                <a:solidFill>
                  <a:srgbClr val="333333"/>
                </a:solidFill>
                <a:latin typeface="Arial"/>
              </a:rPr>
              <a:t>Basic company 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6732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B8F3C"/>
                </a:solidFill>
              </a:rPr>
              <a:t>✔  </a:t>
            </a:r>
            <a:r>
              <a:rPr sz="1200">
                <a:solidFill>
                  <a:srgbClr val="333333"/>
                </a:solidFill>
                <a:latin typeface="Arial"/>
              </a:rPr>
              <a:t>Listed in supplier directory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151376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B8F3C"/>
                </a:solidFill>
              </a:rPr>
              <a:t>✔  </a:t>
            </a:r>
            <a:r>
              <a:rPr sz="1200">
                <a:solidFill>
                  <a:srgbClr val="333333"/>
                </a:solidFill>
                <a:latin typeface="Arial"/>
              </a:rPr>
              <a:t>Appear in search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3542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C4444"/>
                </a:solidFill>
              </a:rPr>
              <a:t>✖  </a:t>
            </a:r>
            <a:r>
              <a:rPr sz="1200">
                <a:solidFill>
                  <a:srgbClr val="555555"/>
                </a:solidFill>
                <a:latin typeface="Arial"/>
              </a:rPr>
              <a:t>No logo or website link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91947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C4444"/>
                </a:solidFill>
              </a:rPr>
              <a:t>✖  </a:t>
            </a:r>
            <a:r>
              <a:rPr sz="1200">
                <a:solidFill>
                  <a:srgbClr val="555555"/>
                </a:solidFill>
                <a:latin typeface="Arial"/>
              </a:rPr>
              <a:t>No verified badge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03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C4444"/>
                </a:solidFill>
              </a:rPr>
              <a:t>✖  </a:t>
            </a:r>
            <a:r>
              <a:rPr sz="1200">
                <a:solidFill>
                  <a:srgbClr val="555555"/>
                </a:solidFill>
                <a:latin typeface="Arial"/>
              </a:rPr>
              <a:t>No analytics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6875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C4444"/>
                </a:solidFill>
              </a:rPr>
              <a:t>✖  </a:t>
            </a:r>
            <a:r>
              <a:rPr sz="1200">
                <a:solidFill>
                  <a:srgbClr val="555555"/>
                </a:solidFill>
                <a:latin typeface="Arial"/>
              </a:rPr>
              <a:t>No priority ranking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1645920"/>
            <a:ext cx="35661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8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18288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6B8F3C"/>
                </a:solidFill>
                <a:latin typeface="Arial"/>
              </a:rPr>
              <a:t>6-MONTH 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286000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1A1A1A"/>
                </a:solidFill>
                <a:latin typeface="Georgia"/>
              </a:rPr>
              <a:t>$200</a:t>
            </a:r>
          </a:p>
          <a:p>
            <a:pPr algn="ctr"/>
            <a:r>
              <a:rPr sz="1300">
                <a:solidFill>
                  <a:srgbClr val="555555"/>
                </a:solidFill>
                <a:latin typeface="Arial"/>
              </a:rPr>
              <a:t>/month + $50/lead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3337560"/>
            <a:ext cx="26517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3520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B8F3C"/>
                </a:solidFill>
              </a:rPr>
              <a:t>✔  </a:t>
            </a:r>
            <a:r>
              <a:rPr sz="1200">
                <a:solidFill>
                  <a:srgbClr val="333333"/>
                </a:solidFill>
                <a:latin typeface="Arial"/>
              </a:rPr>
              <a:t>Custom profile with logo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90448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B8F3C"/>
                </a:solidFill>
              </a:rPr>
              <a:t>✔  </a:t>
            </a:r>
            <a:r>
              <a:rPr sz="1200">
                <a:solidFill>
                  <a:srgbClr val="333333"/>
                </a:solidFill>
                <a:latin typeface="Arial"/>
              </a:rPr>
              <a:t>Website link &amp; images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288536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B8F3C"/>
                </a:solidFill>
              </a:rPr>
              <a:t>✔  </a:t>
            </a:r>
            <a:r>
              <a:rPr sz="1200">
                <a:solidFill>
                  <a:srgbClr val="333333"/>
                </a:solidFill>
                <a:latin typeface="Arial"/>
              </a:rPr>
              <a:t>Verified supplier badge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467258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B8F3C"/>
                </a:solidFill>
              </a:rPr>
              <a:t>✔  </a:t>
            </a:r>
            <a:r>
              <a:rPr sz="1200">
                <a:solidFill>
                  <a:srgbClr val="333333"/>
                </a:solidFill>
                <a:latin typeface="Arial"/>
              </a:rPr>
              <a:t>Analytics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505663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B8F3C"/>
                </a:solidFill>
              </a:rPr>
              <a:t>✔  </a:t>
            </a:r>
            <a:r>
              <a:rPr sz="1200">
                <a:solidFill>
                  <a:srgbClr val="333333"/>
                </a:solidFill>
                <a:latin typeface="Arial"/>
              </a:rPr>
              <a:t>Lead tracking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54406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B8F3C"/>
                </a:solidFill>
              </a:rPr>
              <a:t>✔  </a:t>
            </a:r>
            <a:r>
              <a:rPr sz="1200">
                <a:solidFill>
                  <a:srgbClr val="333333"/>
                </a:solidFill>
                <a:latin typeface="Arial"/>
              </a:rPr>
              <a:t>Priority search ranking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1645920"/>
            <a:ext cx="3566160" cy="47548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B8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89720" y="1417320"/>
            <a:ext cx="1828800" cy="320040"/>
          </a:xfrm>
          <a:prstGeom prst="roundRect">
            <a:avLst/>
          </a:prstGeom>
          <a:solidFill>
            <a:srgbClr val="6B8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Recommended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18288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6B8F3C"/>
                </a:solidFill>
                <a:latin typeface="Arial"/>
              </a:rPr>
              <a:t>12-MONTH PLAN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2286000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1A1A1A"/>
                </a:solidFill>
                <a:latin typeface="Georgia"/>
              </a:rPr>
              <a:t>$300</a:t>
            </a:r>
          </a:p>
          <a:p>
            <a:pPr algn="ctr"/>
            <a:r>
              <a:rPr sz="1300">
                <a:solidFill>
                  <a:srgbClr val="555555"/>
                </a:solidFill>
                <a:latin typeface="Arial"/>
              </a:rPr>
              <a:t>/month + $50/lead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78240" y="3337560"/>
            <a:ext cx="26517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3520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B8F3C"/>
                </a:solidFill>
              </a:rPr>
              <a:t>✔  </a:t>
            </a:r>
            <a:r>
              <a:rPr sz="1200">
                <a:solidFill>
                  <a:srgbClr val="333333"/>
                </a:solidFill>
                <a:latin typeface="Arial"/>
              </a:rPr>
              <a:t>Everything in 6-month plan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90448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B8F3C"/>
                </a:solidFill>
              </a:rPr>
              <a:t>✔  </a:t>
            </a:r>
            <a:r>
              <a:rPr sz="1200">
                <a:solidFill>
                  <a:srgbClr val="333333"/>
                </a:solidFill>
                <a:latin typeface="Arial"/>
              </a:rPr>
              <a:t>Custom profile with logo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4288536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B8F3C"/>
                </a:solidFill>
              </a:rPr>
              <a:t>✔  </a:t>
            </a:r>
            <a:r>
              <a:rPr sz="1200">
                <a:solidFill>
                  <a:srgbClr val="333333"/>
                </a:solidFill>
                <a:latin typeface="Arial"/>
              </a:rPr>
              <a:t>Verified supplier badge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467258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B8F3C"/>
                </a:solidFill>
              </a:rPr>
              <a:t>✔  </a:t>
            </a:r>
            <a:r>
              <a:rPr sz="1200">
                <a:solidFill>
                  <a:srgbClr val="333333"/>
                </a:solidFill>
                <a:latin typeface="Arial"/>
              </a:rPr>
              <a:t>Full analytics 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505663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B8F3C"/>
                </a:solidFill>
              </a:rPr>
              <a:t>✔  </a:t>
            </a:r>
            <a:r>
              <a:rPr sz="1200">
                <a:solidFill>
                  <a:srgbClr val="333333"/>
                </a:solidFill>
                <a:latin typeface="Arial"/>
              </a:rPr>
              <a:t>Priority search ranking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95360" y="5486400"/>
            <a:ext cx="3017520" cy="685800"/>
          </a:xfrm>
          <a:prstGeom prst="roundRect">
            <a:avLst/>
          </a:prstGeom>
          <a:solidFill>
            <a:srgbClr val="2A3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1200"/>
              <a:t>⭐ </a:t>
            </a:r>
            <a:r>
              <a:rPr sz="1300" b="1">
                <a:solidFill>
                  <a:srgbClr val="FFFFFF"/>
                </a:solidFill>
                <a:latin typeface="Arial"/>
              </a:rPr>
              <a:t>Guaranteed 2 paying customers</a:t>
            </a:r>
          </a:p>
          <a:p>
            <a:pPr algn="ctr"/>
            <a:r>
              <a:rPr sz="1100">
                <a:solidFill>
                  <a:srgbClr val="AACC88"/>
                </a:solidFill>
                <a:latin typeface="Arial"/>
              </a:rPr>
              <a:t>within the 12-month period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