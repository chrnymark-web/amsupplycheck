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0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2655" y="0"/>
            <a:ext cx="91440" cy="685800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msupplycheck-logo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23444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94560"/>
            <a:ext cx="7498079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333333"/>
                </a:solidFill>
                <a:latin typeface="Georgia"/>
              </a:rPr>
              <a:t>Vejen til 30k/md
</a:t>
            </a:r>
          </a:p>
          <a:p>
            <a:pPr algn="l">
              <a:lnSpc>
                <a:spcPct val="110000"/>
              </a:lnSpc>
            </a:pPr>
            <a:r>
              <a:rPr sz="2600" b="0">
                <a:solidFill>
                  <a:srgbClr val="555555"/>
                </a:solidFill>
                <a:latin typeface="Arial"/>
              </a:rPr>
              <a:t>Ugentlige KPI'er for SupplyCheck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498079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4F6C2A"/>
                </a:solidFill>
                <a:latin typeface="Arial"/>
              </a:rPr>
              <a:t>10.000 mdr. besøgende  →  30.000 DKK/md i løn
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Arial"/>
              </a:rPr>
              <a:t>Personligt accountability-deck · review hver mandag morgen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126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12. May 2026</a:t>
            </a:r>
          </a:p>
        </p:txBody>
      </p:sp>
      <p:sp>
        <p:nvSpPr>
          <p:cNvPr id="9" name="Oval 8"/>
          <p:cNvSpPr/>
          <p:nvPr/>
        </p:nvSpPr>
        <p:spPr>
          <a:xfrm>
            <a:off x="9509760" y="2468880"/>
            <a:ext cx="1828800" cy="1828800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246888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Georgia"/>
              </a:rPr>
              <a:t>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North 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NORTH 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" y="256032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2560320"/>
            <a:ext cx="3291840" cy="2194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>
                <a:solidFill>
                  <a:srgbClr val="4F6C2A"/>
                </a:solidFill>
                <a:latin typeface="Georgia"/>
              </a:rPr>
              <a:t>10.000
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Arial"/>
              </a:rPr>
              <a:t>månedlige besøgende
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Arial"/>
              </a:rPr>
              <a:t>buyer-trafik på platformen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84167" y="3429000"/>
            <a:ext cx="365760" cy="457200"/>
          </a:xfrm>
          <a:prstGeom prst="rightArrow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9927" y="2560320"/>
            <a:ext cx="3291840" cy="21945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927" y="2560320"/>
            <a:ext cx="3291840" cy="2194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Konvertering
</a:t>
            </a:r>
          </a:p>
          <a:p>
            <a:pPr algn="ctr">
              <a:lnSpc>
                <a:spcPct val="120000"/>
              </a:lnSpc>
            </a:pPr>
            <a:r>
              <a:rPr sz="800" b="0">
                <a:solidFill>
                  <a:srgbClr val="FFFFFF"/>
                </a:solidFill>
                <a:latin typeface="Arial"/>
              </a:rPr>
              <a:t>
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2F2F2"/>
                </a:solidFill>
                <a:latin typeface="Arial"/>
              </a:rPr>
              <a:t>Buyer-funnel + Supplier-funnel
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6B8F3C"/>
                </a:solidFill>
                <a:latin typeface="Arial"/>
              </a:rPr>
              <a:t>Måles ugentligt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41767" y="3429000"/>
            <a:ext cx="365760" cy="457200"/>
          </a:xfrm>
          <a:prstGeom prst="rightArrow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2560320"/>
            <a:ext cx="3291840" cy="2194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>
                <a:solidFill>
                  <a:srgbClr val="4F6C2A"/>
                </a:solidFill>
                <a:latin typeface="Georgia"/>
              </a:rPr>
              <a:t>30.000
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Arial"/>
              </a:rPr>
              <a:t>DKK/måned i løn
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Arial"/>
              </a:rPr>
              <a:t>≈ €4.025 MRR fra partnere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Det er IKKE 10k → 27 partnere direkte. 10k buyer-trafik skaber value · value skaber partnere.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Regnestykket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33333"/>
                </a:solidFill>
                <a:latin typeface="Georgia"/>
              </a:rPr>
              <a:t>30.000 DKK/md  ≈  €4.025 MRR  (kurs 7,45)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607" y="2560320"/>
            <a:ext cx="33832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28346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  <a:latin typeface="Arial"/>
              </a:rPr>
              <a:t>ALL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2918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>
                <a:solidFill>
                  <a:srgbClr val="4F6C2A"/>
                </a:solidFill>
                <a:latin typeface="Georgia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4389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betalende partnere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484632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27 × €149
= €4.023 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54864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Lavt billet, høj volumen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5727" y="2331720"/>
            <a:ext cx="1920240" cy="36576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5727" y="233172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ANBEFALET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207" y="2560320"/>
            <a:ext cx="3383280" cy="329184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8215" y="2624328"/>
            <a:ext cx="3255264" cy="3163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207" y="28346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F6C2A"/>
                </a:solidFill>
                <a:latin typeface="Arial"/>
              </a:rPr>
              <a:t>REALISTISK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207" y="32918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>
                <a:solidFill>
                  <a:srgbClr val="4F6C2A"/>
                </a:solidFill>
                <a:latin typeface="Georgia"/>
              </a:rPr>
              <a:t>15 + 6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207" y="4389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Growth + 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7087" y="484632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15 × €149 + 6 × €349
= €4.329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087" y="54864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≈ 32.250 DKK/md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1807" y="2560320"/>
            <a:ext cx="33832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807" y="28346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  <a:latin typeface="Arial"/>
              </a:rPr>
              <a:t>ALL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1807" y="32918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>
                <a:solidFill>
                  <a:srgbClr val="4F6C2A"/>
                </a:solidFill>
                <a:latin typeface="Georgia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1807" y="4389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betalende partnere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4687" y="484632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12 × €349
= €4.188 MRR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687" y="54864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Højere billet, færre kunder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CC4444"/>
                </a:solidFill>
                <a:latin typeface="Arial"/>
              </a:rPr>
              <a:t>I dag: 1 betalende partner (AM Printservice). Gap til mål: 14-26 partnere afhængigt af mix.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To funnels — begge skal måles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64592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18288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F6C2A"/>
                </a:solidFill>
                <a:latin typeface="Arial"/>
              </a:rPr>
              <a:t>BUYER-FUNNEL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2286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Georgia"/>
              </a:rPr>
              <a:t>Trafik → Konvertering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487" y="2926080"/>
            <a:ext cx="45720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367" y="292608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1.  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Besøgende på platformen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   ·   GA4 +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487" y="3703320"/>
            <a:ext cx="45720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2367" y="370332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2.  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STL upload / quote start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   ·   upload_events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487" y="4480560"/>
            <a:ext cx="45720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2367" y="448056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3.  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Supplier-views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   ·   supplier_pageview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487" y="5257800"/>
            <a:ext cx="45720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2367" y="525780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4.  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Outbound click / quote sendt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   ·   outbound_click = konvertering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645920"/>
            <a:ext cx="5303520" cy="4937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18288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6B8F3C"/>
                </a:solidFill>
                <a:latin typeface="Arial"/>
              </a:rPr>
              <a:t>SUPPLIER-FUNNEL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2286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Value →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0207" y="2926080"/>
            <a:ext cx="4572000" cy="640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3087" y="292608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B8F3C"/>
                </a:solidFill>
                <a:latin typeface="Arial"/>
              </a:rPr>
              <a:t>1.  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Suppliers i directory</a:t>
            </a:r>
          </a:p>
          <a:p>
            <a:pPr algn="l"/>
            <a:r>
              <a:rPr sz="1100" b="0">
                <a:solidFill>
                  <a:srgbClr val="DDDDDD"/>
                </a:solidFill>
                <a:latin typeface="Arial"/>
              </a:rPr>
              <a:t>   ·   suppliers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0207" y="3703320"/>
            <a:ext cx="4572000" cy="640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3087" y="370332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B8F3C"/>
                </a:solidFill>
                <a:latin typeface="Arial"/>
              </a:rPr>
              <a:t>2.  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Leads leveret pr. supplier</a:t>
            </a:r>
          </a:p>
          <a:p>
            <a:pPr algn="l"/>
            <a:r>
              <a:rPr sz="1100" b="0">
                <a:solidFill>
                  <a:srgbClr val="DDDDDD"/>
                </a:solidFill>
                <a:latin typeface="Arial"/>
              </a:rPr>
              <a:t>   ·   outbound + quote (gap)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0207" y="4480560"/>
            <a:ext cx="4572000" cy="640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3087" y="448056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B8F3C"/>
                </a:solidFill>
                <a:latin typeface="Arial"/>
              </a:rPr>
              <a:t>3.  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Outreach + samtaler bookede</a:t>
            </a:r>
          </a:p>
          <a:p>
            <a:pPr algn="l"/>
            <a:r>
              <a:rPr sz="1100" b="0">
                <a:solidFill>
                  <a:srgbClr val="DDDDDD"/>
                </a:solidFill>
                <a:latin typeface="Arial"/>
              </a:rPr>
              <a:t>   ·   manuelt (CRM)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0207" y="5257800"/>
            <a:ext cx="4572000" cy="640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3087" y="5257800"/>
            <a:ext cx="4389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B8F3C"/>
                </a:solidFill>
                <a:latin typeface="Arial"/>
              </a:rPr>
              <a:t>4.  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Tier-upgrade til betalende</a:t>
            </a:r>
          </a:p>
          <a:p>
            <a:pPr algn="l"/>
            <a:r>
              <a:rPr sz="1100" b="0">
                <a:solidFill>
                  <a:srgbClr val="DDDDDD"/>
                </a:solidFill>
                <a:latin typeface="Arial"/>
              </a:rPr>
              <a:t>   ·   is_partner=true · MRR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Buyer-KPI'er (ugentligt)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737360"/>
            <a:ext cx="4572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737360"/>
            <a:ext cx="36576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Kilde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737360"/>
            <a:ext cx="24688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7373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Ugemål @ 10k MAU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224028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224028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24028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4028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24028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Unikke besøgende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2402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GA4 / data-overview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402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~2.500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2788920"/>
            <a:ext cx="45720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278892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788920"/>
            <a:ext cx="2468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8892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78892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STL-uploads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78892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upload_events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889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~125  (5%)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333756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333756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33756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33756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33756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Supplier-views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33756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supplier_pageview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3375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~500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" y="3886200"/>
            <a:ext cx="45720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0" y="388620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3886200"/>
            <a:ext cx="2468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8620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388620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Outbound clicks (konvertering)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8620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outbound_click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88620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~75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3484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5840" y="443484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577840" y="443484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443484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43484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443484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Quote requests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443484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quote_request_submit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43484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~25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8348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40" y="4983480"/>
            <a:ext cx="45720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77840" y="498348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35440" y="4983480"/>
            <a:ext cx="2468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98348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4F6C2A"/>
                </a:solidFill>
                <a:latin typeface="Arial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498348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Conv-rate visit → outbound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0" y="49834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beregnet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49834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3,0%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Konverteringen er outbound_click → supplier-website. Quote-form-submit er stærkere signal men sjældnere.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Supplier-KPI'er (revenue path)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737360"/>
            <a:ext cx="50292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36576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Kilde i 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737360"/>
            <a:ext cx="20116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73736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224028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24028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224028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4028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24028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Aktive suppliers i directory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402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suppliers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24028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F6C2A"/>
                </a:solidFill>
                <a:latin typeface="Arial"/>
              </a:rPr>
              <a:t>TRACKES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27889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278892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788920"/>
            <a:ext cx="20116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8892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78892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Leads leveret pr. partner (mdr.)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78892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outbound + quote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Arial"/>
              </a:rPr>
              <a:t>GAP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333756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33756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333756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33756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33756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Booked partner-samtaler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3756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manuelt (CRM/regneark)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3375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Arial"/>
              </a:rPr>
              <a:t>GAP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" y="388620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388620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3886200"/>
            <a:ext cx="20116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8620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388620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Nye betalende partnere/uge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88620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is_partner=true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88620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F6C2A"/>
                </a:solidFill>
                <a:latin typeface="Arial"/>
              </a:rPr>
              <a:t>TRACKES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3484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5840" y="443484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443484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92640" y="443484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43484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443484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F6C2A"/>
                </a:solidFill>
                <a:latin typeface="Arial"/>
              </a:rPr>
              <a:t>MRR (DKK)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3484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mangler tabel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443484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Arial"/>
              </a:rPr>
              <a:t>GAP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83480"/>
            <a:ext cx="54864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40" y="498348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40" y="498348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4983480"/>
            <a:ext cx="20116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98348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498348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Churn (kr. tabt sidste 30 dage)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49834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mangler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498348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Arial"/>
              </a:rPr>
              <a:t>GAP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4444"/>
                </a:solidFill>
                <a:latin typeface="Arial"/>
              </a:rPr>
              <a:t>4 ud af 6 KPI'er har gaps. Instrumentation skal bygges — se slide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Baseline i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Udfyldes hver mandag fra /admin/data-overview (7-dages vindue)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" y="2103120"/>
            <a:ext cx="27432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127" y="2103120"/>
            <a:ext cx="109728" cy="155448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2402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Unikke besøgende/uge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256032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555555"/>
                </a:solidFill>
                <a:latin typeface="Georgia"/>
              </a:rPr>
              <a:t>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3291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mål: 2.500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1207" y="2103120"/>
            <a:ext cx="27432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1207" y="2103120"/>
            <a:ext cx="109728" cy="155448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527" y="22402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STL-uploads/uge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56032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555555"/>
                </a:solidFill>
                <a:latin typeface="Georgia"/>
              </a:rPr>
              <a:t>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3291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mål: 125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103120"/>
            <a:ext cx="27432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103120"/>
            <a:ext cx="109728" cy="155448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22402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Supplier-views/uge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256032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555555"/>
                </a:solidFill>
                <a:latin typeface="Georgia"/>
              </a:rPr>
              <a:t>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3291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mål: 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3367" y="2103120"/>
            <a:ext cx="27432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3367" y="2103120"/>
            <a:ext cx="109728" cy="155448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7687" y="22402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Outbound clicks/uge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7687" y="256032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555555"/>
                </a:solidFill>
                <a:latin typeface="Georgia"/>
              </a:rPr>
              <a:t>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687" y="3291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mål: 75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127" y="3840480"/>
            <a:ext cx="27432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127" y="3840480"/>
            <a:ext cx="109728" cy="155448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447" y="39776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Aktive suppliers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" y="42976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555555"/>
                </a:solidFill>
                <a:latin typeface="Georgia"/>
              </a:rPr>
              <a:t>____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447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directory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61207" y="3840480"/>
            <a:ext cx="2743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1207" y="3840480"/>
            <a:ext cx="109728" cy="155448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5527" y="39776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Betalende partnere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5527" y="42976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4F6C2A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5527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AM Printservice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3840480"/>
            <a:ext cx="2743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3840480"/>
            <a:ext cx="109728" cy="155448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1607" y="39776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MRR (DKK)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1607" y="42976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4F6C2A"/>
                </a:solidFill>
                <a:latin typeface="Georgia"/>
              </a:rPr>
              <a:t>~3.500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607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Growth-tier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13367" y="3840480"/>
            <a:ext cx="2743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13367" y="3840480"/>
            <a:ext cx="109728" cy="155448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7687" y="39776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Arial"/>
              </a:rPr>
              <a:t>Gap til 30k/md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7687" y="42976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4F6C2A"/>
                </a:solidFill>
                <a:latin typeface="Georgia"/>
              </a:rPr>
              <a:t>26.500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7687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DKK at indhente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B8F3C"/>
                </a:solidFill>
                <a:latin typeface="Arial"/>
              </a:rPr>
              <a:t>■ 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kendt baseline   </a:t>
            </a:r>
          </a:p>
          <a:p>
            <a:pPr algn="l"/>
            <a:r>
              <a:rPr sz="1400" b="1">
                <a:solidFill>
                  <a:srgbClr val="E0A030"/>
                </a:solidFill>
                <a:latin typeface="Arial"/>
              </a:rPr>
              <a:t>■ 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udfyldes ugentligt fra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Konvertering — fra trafik til kliks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1828800"/>
            <a:ext cx="8229600" cy="640080"/>
          </a:xfrm>
          <a:prstGeom prst="roundRect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Arial"/>
              </a:rPr>
              <a:t>Besøgende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82880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697480"/>
            <a:ext cx="1371600" cy="64008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Arial"/>
              </a:rPr>
              <a:t>STL-upload eller quote-start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69748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566160"/>
            <a:ext cx="1645920" cy="64008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566160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Arial"/>
              </a:rPr>
              <a:t>Supplier-views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56616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20%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434840"/>
            <a:ext cx="1371600" cy="640080"/>
          </a:xfrm>
          <a:prstGeom prst="round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43484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3484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Arial"/>
              </a:rPr>
              <a:t>Outbound clicks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443484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5303520"/>
            <a:ext cx="1371600" cy="64008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530352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Arial"/>
              </a:rPr>
              <a:t>Quote 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30352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F6C2A"/>
                </a:solidFill>
                <a:latin typeface="Arial"/>
              </a:rPr>
              <a:t>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* Supplier-views = 20% pga. flere visninger pr. session (typisk 4-5 leverandører i én sammenligning).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Headline-metric: 3% af besøgende klikker ud til en supplier-side. Forbedring her er højeste leverage.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Ugentlig review-rutine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10881360" cy="8229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6B8F3C"/>
                </a:solidFill>
                <a:latin typeface="Arial"/>
              </a:rPr>
              <a:t>MANDAG MORGEN   ·   30 MIN   ·  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/admin/data-overview  +  dette KPI-deck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274320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5267" y="3108960"/>
            <a:ext cx="914400" cy="914400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5267" y="31089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2976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Georgia"/>
              </a:rPr>
              <a:t>Notér tallene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767" y="4846320"/>
            <a:ext cx="2057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For hver KPI: denne uge vs. sidste uge vs. 4-ugers rullende gennemsnit.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8367" y="274320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44187" y="3108960"/>
            <a:ext cx="914400" cy="914400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4187" y="31089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42976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Georgia"/>
              </a:rPr>
              <a:t>Find bevægelsen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687" y="4846320"/>
            <a:ext cx="2057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Hvilke 1-2 metrics rykker mest? Skriv ÉN linje om hvorfor.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274320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33107" y="3108960"/>
            <a:ext cx="914400" cy="914400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3107" y="31089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42976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Georgia"/>
              </a:rPr>
              <a:t>Vælg ÉT fokus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4846320"/>
            <a:ext cx="2057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Top-of-funnel, conversion, eller supplier-outreach? Skriv det 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6207" y="274320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2027" y="3108960"/>
            <a:ext cx="914400" cy="914400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2027" y="31089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9087" y="42976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Georgia"/>
              </a:rPr>
              <a:t>Log beslutningen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0527" y="4846320"/>
            <a:ext cx="2057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Arial"/>
              </a:rPr>
              <a:t>Tilføj en ugeslide eller en linje i Notion. Hold dig selv accountable.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Hvad mangler vi at tracke?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3 instrumentations-bygges for at KPI'erne kan måles løbende.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567" y="2103120"/>
            <a:ext cx="3657600" cy="1371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0887" y="2468880"/>
            <a:ext cx="822960" cy="32004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887" y="246888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29260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Georgia"/>
              </a:rPr>
              <a:t>partner_subscriptions tabel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38404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6C2A"/>
                </a:solidFill>
                <a:latin typeface="Arial"/>
              </a:rPr>
              <a:t>Driver KPI #11 (MRR) og #12 (Churn)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43891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Kolonner: supplier_id, tier (growth/enterprise), mrr_dkk, started_at, cancelled_at. Manuel for nu, automatiser når Stripe er på.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04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7047" y="2103120"/>
            <a:ext cx="3657600" cy="1371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1367" y="2468880"/>
            <a:ext cx="822960" cy="32004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246888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29260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Georgia"/>
              </a:rPr>
              <a:t>Lead-attribution pr. 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38404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6C2A"/>
                </a:solidFill>
                <a:latin typeface="Arial"/>
              </a:rPr>
              <a:t>Driver KPI #8 (Leads leveret)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43891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Link outbound_click + quote_request_submit til supplier_id. Memory: selectItems/searches/supplier_id mangler GTM-tagging — samme rod.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52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7527" y="2103120"/>
            <a:ext cx="3657600" cy="1371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1847" y="2468880"/>
            <a:ext cx="822960" cy="32004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1847" y="246888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29260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Georgia"/>
              </a:rPr>
              <a:t>MAU-query i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38404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6C2A"/>
                </a:solidFill>
                <a:latin typeface="Arial"/>
              </a:rPr>
              <a:t>Driver KPI #1 (Unikke besøgende)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43891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Brug GA4-edge function (ga4-analytics) eller udled fra analytics_events.session_id distinct count over 30 dage. Vis i /admin/data-overview.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90-dages fokus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Næste 12 uger: ÉN KPI er det primære fokus pr. uge. Skift uge for uge.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147" y="2103120"/>
            <a:ext cx="2697480" cy="40233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246888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Uge 1-3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7" y="301752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027" y="32918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INSTRUMENTATION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467" y="4572000"/>
            <a:ext cx="2148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Byg MRR-tabel · Fix lead-attribution · MAU-query i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9787" y="2103120"/>
            <a:ext cx="2697480" cy="4023360"/>
          </a:xfrm>
          <a:prstGeom prst="roundRect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4107" y="246888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Uge 4-6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8427" y="301752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2667" y="32918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BUYER TOP-OF-FUNNEL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4107" y="4572000"/>
            <a:ext cx="2148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SEO-content · Compare-prices-side · landing-page tests for at hæve unikke besøgende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2103120"/>
            <a:ext cx="2697480" cy="402336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747" y="246888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Uge 7-9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3067" y="301752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7307" y="32918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BUYER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4572000"/>
            <a:ext cx="2148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Optimér STL-upload-flow · supplier-card design · CTA-test for at hæve 3% → 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9067" y="2103120"/>
            <a:ext cx="2697480" cy="4023360"/>
          </a:xfrm>
          <a:prstGeom prst="round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3387" y="246888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Uge 10-12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7707" y="301752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1947" y="32918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SUPPLIER OUTREACH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3387" y="4572000"/>
            <a:ext cx="2148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Outreach til top-25 suppliers · pricing-samtaler · få 3 nye Growth-partnere underskrevet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6263640"/>
            <a:ext cx="10881360" cy="457200"/>
          </a:xfrm>
          <a:prstGeom prst="roundRect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EFTER 90 DAGE:  baseline = 4.000 besøgende/uge  ·  4% conversion  ·  4 nye Growth-partnere  ·  9.000 DKK MRR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Datakilder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pic>
        <p:nvPicPr>
          <p:cNvPr id="6" name="Picture 5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6858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Hvor henter jeg hver KPI fra — kode-referencer +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567" y="2103120"/>
            <a:ext cx="3657600" cy="137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Georgia"/>
              </a:rPr>
              <a:t>KPI #1-6 (Buyer-funnel)</a:t>
            </a:r>
          </a:p>
        </p:txBody>
      </p:sp>
      <p:sp>
        <p:nvSpPr>
          <p:cNvPr id="12" name="Oval 11"/>
          <p:cNvSpPr/>
          <p:nvPr/>
        </p:nvSpPr>
        <p:spPr>
          <a:xfrm>
            <a:off x="792327" y="3337560"/>
            <a:ext cx="109728" cy="109728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927" y="320040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src/lib/analytics.ts:13-30 — HIGH_SIGNAL_EVENTS</a:t>
            </a:r>
          </a:p>
        </p:txBody>
      </p:sp>
      <p:sp>
        <p:nvSpPr>
          <p:cNvPr id="14" name="Oval 13"/>
          <p:cNvSpPr/>
          <p:nvPr/>
        </p:nvSpPr>
        <p:spPr>
          <a:xfrm>
            <a:off x="792327" y="3977640"/>
            <a:ext cx="109728" cy="109728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927" y="384048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src/hooks/use-funnel-data.ts:29-83 — funnel-beregning</a:t>
            </a:r>
          </a:p>
        </p:txBody>
      </p:sp>
      <p:sp>
        <p:nvSpPr>
          <p:cNvPr id="16" name="Oval 15"/>
          <p:cNvSpPr/>
          <p:nvPr/>
        </p:nvSpPr>
        <p:spPr>
          <a:xfrm>
            <a:off x="792327" y="4617720"/>
            <a:ext cx="109728" cy="109728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0927" y="448056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src/hooks/use-ga4-funnel.ts — GA4 integration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92327" y="5257800"/>
            <a:ext cx="109728" cy="109728"/>
          </a:xfrm>
          <a:prstGeom prst="ellipse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0927" y="512064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Dashboard: /admin/data-overview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04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047" y="2103120"/>
            <a:ext cx="3657600" cy="137160"/>
          </a:xfrm>
          <a:prstGeom prst="rect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1367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Georgia"/>
              </a:rPr>
              <a:t>KPI #7-10 (Supplier-funnel)</a:t>
            </a:r>
          </a:p>
        </p:txBody>
      </p:sp>
      <p:sp>
        <p:nvSpPr>
          <p:cNvPr id="23" name="Oval 22"/>
          <p:cNvSpPr/>
          <p:nvPr/>
        </p:nvSpPr>
        <p:spPr>
          <a:xfrm>
            <a:off x="4632807" y="3337560"/>
            <a:ext cx="109728" cy="109728"/>
          </a:xfrm>
          <a:prstGeom prst="ellipse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1407" y="320040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suppliers tabel — is_partner boolean kolonne</a:t>
            </a:r>
          </a:p>
        </p:txBody>
      </p:sp>
      <p:sp>
        <p:nvSpPr>
          <p:cNvPr id="25" name="Oval 24"/>
          <p:cNvSpPr/>
          <p:nvPr/>
        </p:nvSpPr>
        <p:spPr>
          <a:xfrm>
            <a:off x="4632807" y="3977640"/>
            <a:ext cx="109728" cy="109728"/>
          </a:xfrm>
          <a:prstGeom prst="ellipse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1407" y="384048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src/pages/admin/Admin.tsx — supplier inventory panel</a:t>
            </a:r>
          </a:p>
        </p:txBody>
      </p:sp>
      <p:sp>
        <p:nvSpPr>
          <p:cNvPr id="27" name="Oval 26"/>
          <p:cNvSpPr/>
          <p:nvPr/>
        </p:nvSpPr>
        <p:spPr>
          <a:xfrm>
            <a:off x="4632807" y="4617720"/>
            <a:ext cx="109728" cy="109728"/>
          </a:xfrm>
          <a:prstGeom prst="ellipse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1407" y="448056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Outreach-CRM: manuelt regneark (TBD)</a:t>
            </a:r>
          </a:p>
        </p:txBody>
      </p:sp>
      <p:sp>
        <p:nvSpPr>
          <p:cNvPr id="29" name="Oval 28"/>
          <p:cNvSpPr/>
          <p:nvPr/>
        </p:nvSpPr>
        <p:spPr>
          <a:xfrm>
            <a:off x="4632807" y="5257800"/>
            <a:ext cx="109728" cy="109728"/>
          </a:xfrm>
          <a:prstGeom prst="ellipse">
            <a:avLst/>
          </a:prstGeom>
          <a:solidFill>
            <a:srgbClr val="4F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1407" y="512064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Dashboard: /admin (Suppliers-fane)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7527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7527" y="2103120"/>
            <a:ext cx="3657600" cy="13716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1847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Georgia"/>
              </a:rPr>
              <a:t>KPI #11-12 (Revenue) — BYG</a:t>
            </a:r>
          </a:p>
        </p:txBody>
      </p:sp>
      <p:sp>
        <p:nvSpPr>
          <p:cNvPr id="34" name="Oval 33"/>
          <p:cNvSpPr/>
          <p:nvPr/>
        </p:nvSpPr>
        <p:spPr>
          <a:xfrm>
            <a:off x="8473287" y="3337560"/>
            <a:ext cx="109728" cy="109728"/>
          </a:xfrm>
          <a:prstGeom prst="ellipse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1887" y="320040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partner_subscriptions tabel: SKAL OPRETTES</a:t>
            </a:r>
          </a:p>
        </p:txBody>
      </p:sp>
      <p:sp>
        <p:nvSpPr>
          <p:cNvPr id="36" name="Oval 35"/>
          <p:cNvSpPr/>
          <p:nvPr/>
        </p:nvSpPr>
        <p:spPr>
          <a:xfrm>
            <a:off x="8473287" y="3977640"/>
            <a:ext cx="109728" cy="109728"/>
          </a:xfrm>
          <a:prstGeom prst="ellipse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1887" y="384048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Stripe-webhook: ikke koblet på endnu</a:t>
            </a:r>
          </a:p>
        </p:txBody>
      </p:sp>
      <p:sp>
        <p:nvSpPr>
          <p:cNvPr id="38" name="Oval 37"/>
          <p:cNvSpPr/>
          <p:nvPr/>
        </p:nvSpPr>
        <p:spPr>
          <a:xfrm>
            <a:off x="8473287" y="4617720"/>
            <a:ext cx="109728" cy="109728"/>
          </a:xfrm>
          <a:prstGeom prst="ellipse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1887" y="448056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MRR-query: SUM(mrr_dkk) WHERE cancelled_at IS NULL</a:t>
            </a:r>
          </a:p>
        </p:txBody>
      </p:sp>
      <p:sp>
        <p:nvSpPr>
          <p:cNvPr id="40" name="Oval 39"/>
          <p:cNvSpPr/>
          <p:nvPr/>
        </p:nvSpPr>
        <p:spPr>
          <a:xfrm>
            <a:off x="8473287" y="5257800"/>
            <a:ext cx="109728" cy="109728"/>
          </a:xfrm>
          <a:prstGeom prst="ellipse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1887" y="5120640"/>
            <a:ext cx="2880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Vises på: /admin/data-overview (ny sektion)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