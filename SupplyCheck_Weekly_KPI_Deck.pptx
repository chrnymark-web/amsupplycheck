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534095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34095" y="0"/>
            <a:ext cx="36576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42655" y="0"/>
            <a:ext cx="91440" cy="6858000"/>
          </a:xfrm>
          <a:prstGeom prst="rect">
            <a:avLst/>
          </a:prstGeom>
          <a:solidFill>
            <a:srgbClr val="6B8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msupplycheck-logo-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234440" cy="822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2194560"/>
            <a:ext cx="7498079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200" b="1">
                <a:solidFill>
                  <a:srgbClr val="333333"/>
                </a:solidFill>
                <a:latin typeface="Georgia"/>
              </a:rPr>
              <a:t>Vejen til 30k/md
</a:t>
            </a:r>
          </a:p>
          <a:p>
            <a:pPr algn="l">
              <a:lnSpc>
                <a:spcPct val="110000"/>
              </a:lnSpc>
            </a:pPr>
            <a:r>
              <a:rPr sz="2600" b="0">
                <a:solidFill>
                  <a:srgbClr val="555555"/>
                </a:solidFill>
                <a:latin typeface="Arial"/>
              </a:rPr>
              <a:t>Ugentlige KPI'er for SupplyCheck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7498079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1">
                <a:solidFill>
                  <a:srgbClr val="4F6C2A"/>
                </a:solidFill>
                <a:latin typeface="Arial"/>
              </a:rPr>
              <a:t>10.000 mdr. besøgende  →  30.000 DKK/md i løn
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555555"/>
                </a:solidFill>
                <a:latin typeface="Arial"/>
              </a:rPr>
              <a:t>Personligt accountability-deck · review hver mandag morgen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126480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Arial"/>
              </a:rPr>
              <a:t>12. May 2026</a:t>
            </a:r>
          </a:p>
        </p:txBody>
      </p:sp>
      <p:sp>
        <p:nvSpPr>
          <p:cNvPr id="9" name="Oval 8"/>
          <p:cNvSpPr/>
          <p:nvPr/>
        </p:nvSpPr>
        <p:spPr>
          <a:xfrm>
            <a:off x="9509760" y="2468880"/>
            <a:ext cx="1828800" cy="1828800"/>
          </a:xfrm>
          <a:prstGeom prst="ellipse">
            <a:avLst/>
          </a:prstGeom>
          <a:solidFill>
            <a:srgbClr val="6B8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0" y="2468880"/>
            <a:ext cx="1828800" cy="1828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8800" b="1">
                <a:solidFill>
                  <a:srgbClr val="FFFFFF"/>
                </a:solidFill>
                <a:latin typeface="Georgia"/>
              </a:rPr>
              <a:t>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Georgia"/>
              </a:rPr>
              <a:t>North Star</a:t>
            </a:r>
          </a:p>
        </p:txBody>
      </p:sp>
      <p:sp>
        <p:nvSpPr>
          <p:cNvPr id="4" name="Rectangle 3"/>
          <p:cNvSpPr/>
          <p:nvPr/>
        </p:nvSpPr>
        <p:spPr>
          <a:xfrm>
            <a:off x="11277295" y="0"/>
            <a:ext cx="914400" cy="1280160"/>
          </a:xfrm>
          <a:prstGeom prst="rect">
            <a:avLst/>
          </a:prstGeom>
          <a:solidFill>
            <a:srgbClr val="6B8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77295" y="228600"/>
            <a:ext cx="91440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pic>
        <p:nvPicPr>
          <p:cNvPr id="6" name="Picture 5" descr="amsupplycheck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11480"/>
            <a:ext cx="685800" cy="4572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1280160"/>
            <a:ext cx="12191695" cy="55778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11277295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00" b="1">
                <a:solidFill>
                  <a:srgbClr val="555555"/>
                </a:solidFill>
                <a:latin typeface="Arial"/>
              </a:rPr>
              <a:t>NORTH STAR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2327" y="2560320"/>
            <a:ext cx="3291840" cy="2194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327" y="2560320"/>
            <a:ext cx="3291840" cy="21945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5600" b="1">
                <a:solidFill>
                  <a:srgbClr val="4F6C2A"/>
                </a:solidFill>
                <a:latin typeface="Georgia"/>
              </a:rPr>
              <a:t>10.000
</a:t>
            </a:r>
          </a:p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555555"/>
                </a:solidFill>
                <a:latin typeface="Arial"/>
              </a:rPr>
              <a:t>månedlige besøgende
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555555"/>
                </a:solidFill>
                <a:latin typeface="Arial"/>
              </a:rPr>
              <a:t>buyer-trafik på platformen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084167" y="3429000"/>
            <a:ext cx="365760" cy="457200"/>
          </a:xfrm>
          <a:prstGeom prst="rightArrow">
            <a:avLst/>
          </a:prstGeom>
          <a:solidFill>
            <a:srgbClr val="6B8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49927" y="2560320"/>
            <a:ext cx="3291840" cy="2194560"/>
          </a:xfrm>
          <a:prstGeom prst="round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49927" y="2560320"/>
            <a:ext cx="3291840" cy="21945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Georgia"/>
              </a:rPr>
              <a:t>Revenue-formel
</a:t>
            </a:r>
          </a:p>
          <a:p>
            <a:pPr algn="ctr">
              <a:lnSpc>
                <a:spcPct val="115000"/>
              </a:lnSpc>
            </a:pPr>
            <a:r>
              <a:rPr sz="600" b="0">
                <a:solidFill>
                  <a:srgbClr val="FFFFFF"/>
                </a:solidFill>
                <a:latin typeface="Arial"/>
              </a:rPr>
              <a:t>
</a:t>
            </a:r>
          </a:p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6B8F3C"/>
                </a:solidFill>
                <a:latin typeface="Arial"/>
              </a:rPr>
              <a:t>N × $50 + Leads × $50
</a:t>
            </a:r>
          </a:p>
          <a:p>
            <a:pPr algn="ctr">
              <a:lnSpc>
                <a:spcPct val="115000"/>
              </a:lnSpc>
            </a:pPr>
            <a:r>
              <a:rPr sz="600" b="0">
                <a:solidFill>
                  <a:srgbClr val="FFFFFF"/>
                </a:solidFill>
                <a:latin typeface="Arial"/>
              </a:rPr>
              <a:t>
</a:t>
            </a:r>
          </a:p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F2F2F2"/>
                </a:solidFill>
                <a:latin typeface="Arial"/>
              </a:rPr>
              <a:t>$600/år subscription
</a:t>
            </a:r>
          </a:p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F2F2F2"/>
                </a:solidFill>
                <a:latin typeface="Arial"/>
              </a:rPr>
              <a:t>+ $50 pr. quote-form-submit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741767" y="3429000"/>
            <a:ext cx="365760" cy="457200"/>
          </a:xfrm>
          <a:prstGeom prst="rightArrow">
            <a:avLst/>
          </a:prstGeom>
          <a:solidFill>
            <a:srgbClr val="6B8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07527" y="2560320"/>
            <a:ext cx="3291840" cy="2194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07527" y="2560320"/>
            <a:ext cx="3291840" cy="21945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5600" b="1">
                <a:solidFill>
                  <a:srgbClr val="4F6C2A"/>
                </a:solidFill>
                <a:latin typeface="Georgia"/>
              </a:rPr>
              <a:t>30.000
</a:t>
            </a:r>
          </a:p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555555"/>
                </a:solidFill>
                <a:latin typeface="Arial"/>
              </a:rPr>
              <a:t>DKK/måned i løn
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555555"/>
                </a:solidFill>
                <a:latin typeface="Arial"/>
              </a:rPr>
              <a:t>≈ $4.400/md fra partnere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303520"/>
            <a:ext cx="11277295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0">
                <a:solidFill>
                  <a:srgbClr val="555555"/>
                </a:solidFill>
                <a:latin typeface="Arial"/>
              </a:rPr>
              <a:t>10k besøgende konverterer IKKE direkte til 40 partnere. Trafik driver leads ($50/stk) · outreach driver subscriptions ($600/år).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Georgia"/>
              </a:rPr>
              <a:t>Regnestykket</a:t>
            </a:r>
          </a:p>
        </p:txBody>
      </p:sp>
      <p:sp>
        <p:nvSpPr>
          <p:cNvPr id="4" name="Rectangle 3"/>
          <p:cNvSpPr/>
          <p:nvPr/>
        </p:nvSpPr>
        <p:spPr>
          <a:xfrm>
            <a:off x="11277295" y="0"/>
            <a:ext cx="914400" cy="1280160"/>
          </a:xfrm>
          <a:prstGeom prst="rect">
            <a:avLst/>
          </a:prstGeom>
          <a:solidFill>
            <a:srgbClr val="6B8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77295" y="228600"/>
            <a:ext cx="91440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pic>
        <p:nvPicPr>
          <p:cNvPr id="6" name="Picture 5" descr="amsupplycheck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11480"/>
            <a:ext cx="685800" cy="4572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1280160"/>
            <a:ext cx="12191695" cy="55778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00" b="1">
                <a:solidFill>
                  <a:srgbClr val="333333"/>
                </a:solidFill>
                <a:latin typeface="Georgia"/>
              </a:rPr>
              <a:t>30.000 DKK/md  ≈  $4.400/md  (kurs 6,85 DKK/USD)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20240"/>
            <a:ext cx="11277295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00" b="1">
                <a:solidFill>
                  <a:srgbClr val="4F6C2A"/>
                </a:solidFill>
                <a:latin typeface="Arial"/>
              </a:rPr>
              <a:t>Formel:  Månedlig omsætning  =  N partnere × $50  +  Leads × $50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6607" y="2651760"/>
            <a:ext cx="3383280" cy="3291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6607" y="2926080"/>
            <a:ext cx="3383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555555"/>
                </a:solidFill>
                <a:latin typeface="Arial"/>
              </a:rPr>
              <a:t>A · PARTNER-HEAVY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6607" y="3383280"/>
            <a:ext cx="338328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6400" b="1">
                <a:solidFill>
                  <a:srgbClr val="4F6C2A"/>
                </a:solidFill>
                <a:latin typeface="Georgia"/>
              </a:rPr>
              <a:t>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6607" y="4480560"/>
            <a:ext cx="3383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0">
                <a:solidFill>
                  <a:srgbClr val="333333"/>
                </a:solidFill>
                <a:latin typeface="Arial"/>
              </a:rPr>
              <a:t>partnere + 38 leads/md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9487" y="4937760"/>
            <a:ext cx="30175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Arial"/>
              </a:rPr>
              <a:t>50 × $50 + 38 × $50
= $4.400/md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9487" y="5577840"/>
            <a:ext cx="3017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Arial"/>
              </a:rPr>
              <a:t>Kræver lift af conversion til 1,5%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35727" y="2423160"/>
            <a:ext cx="1920240" cy="365760"/>
          </a:xfrm>
          <a:prstGeom prst="roundRect">
            <a:avLst/>
          </a:prstGeom>
          <a:solidFill>
            <a:srgbClr val="6B8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35727" y="2423160"/>
            <a:ext cx="192024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ANBEFALET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04207" y="2651760"/>
            <a:ext cx="3383280" cy="3291840"/>
          </a:xfrm>
          <a:prstGeom prst="roundRect">
            <a:avLst/>
          </a:prstGeom>
          <a:solidFill>
            <a:srgbClr val="6B8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468215" y="2715768"/>
            <a:ext cx="3255264" cy="316382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04207" y="2926080"/>
            <a:ext cx="3383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4F6C2A"/>
                </a:solidFill>
                <a:latin typeface="Arial"/>
              </a:rPr>
              <a:t>B · MIX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4207" y="3383280"/>
            <a:ext cx="338328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6400" b="1">
                <a:solidFill>
                  <a:srgbClr val="4F6C2A"/>
                </a:solidFill>
                <a:latin typeface="Georgia"/>
              </a:rPr>
              <a:t>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4207" y="4480560"/>
            <a:ext cx="3383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0">
                <a:solidFill>
                  <a:srgbClr val="333333"/>
                </a:solidFill>
                <a:latin typeface="Arial"/>
              </a:rPr>
              <a:t>partnere + 50 leads/md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87087" y="4937760"/>
            <a:ext cx="30175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Arial"/>
              </a:rPr>
              <a:t>40 × $50 + 50 × $50
= $4.500/md ≈ 30.800 DKK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87087" y="5577840"/>
            <a:ext cx="3017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Arial"/>
              </a:rPr>
              <a:t>Kræver 0,5% quote-conversion @ 10k MAU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61807" y="2651760"/>
            <a:ext cx="3383280" cy="3291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61807" y="2926080"/>
            <a:ext cx="3383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555555"/>
                </a:solidFill>
                <a:latin typeface="Arial"/>
              </a:rPr>
              <a:t>C · LEAD-HEAVY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61807" y="3383280"/>
            <a:ext cx="338328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6400" b="1">
                <a:solidFill>
                  <a:srgbClr val="4F6C2A"/>
                </a:solidFill>
                <a:latin typeface="Georgia"/>
              </a:rPr>
              <a:t>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61807" y="4480560"/>
            <a:ext cx="3383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0">
                <a:solidFill>
                  <a:srgbClr val="333333"/>
                </a:solidFill>
                <a:latin typeface="Arial"/>
              </a:rPr>
              <a:t>partnere + 70 leads/md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4687" y="4937760"/>
            <a:ext cx="30175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Arial"/>
              </a:rPr>
              <a:t>20 × $50 + 70 × $50
= $4.500/md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44687" y="5577840"/>
            <a:ext cx="3017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Arial"/>
              </a:rPr>
              <a:t>Få men aktive partnere, churn-risk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126480"/>
            <a:ext cx="11277295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CC4444"/>
                </a:solidFill>
                <a:latin typeface="Arial"/>
              </a:rPr>
              <a:t>I dag: 1 partner × $600 banked + 0 leads. Gap til 30k DKK/md: 19-49 partnere + lead-conversion-lift.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Georgia"/>
              </a:rPr>
              <a:t>To funnels — begge skal måles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11277295" y="0"/>
            <a:ext cx="914400" cy="1280160"/>
          </a:xfrm>
          <a:prstGeom prst="rect">
            <a:avLst/>
          </a:prstGeom>
          <a:solidFill>
            <a:srgbClr val="6B8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77295" y="228600"/>
            <a:ext cx="91440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pic>
        <p:nvPicPr>
          <p:cNvPr id="6" name="Picture 5" descr="amsupplycheck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11480"/>
            <a:ext cx="685800" cy="4572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1280160"/>
            <a:ext cx="12191695" cy="55778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3727" y="1645920"/>
            <a:ext cx="5303520" cy="4937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3727" y="1828800"/>
            <a:ext cx="5303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00" b="1">
                <a:solidFill>
                  <a:srgbClr val="4F6C2A"/>
                </a:solidFill>
                <a:latin typeface="Arial"/>
              </a:rPr>
              <a:t>BUYER-FUNNEL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3727" y="2286000"/>
            <a:ext cx="5303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Georgia"/>
              </a:rPr>
              <a:t>Trafik → Konvertering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9487" y="2926080"/>
            <a:ext cx="4572000" cy="64008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2367" y="2926080"/>
            <a:ext cx="438912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4F6C2A"/>
                </a:solidFill>
                <a:latin typeface="Arial"/>
              </a:rPr>
              <a:t>1.  </a:t>
            </a:r>
          </a:p>
          <a:p>
            <a:pPr algn="l"/>
            <a:r>
              <a:rPr sz="1400" b="1">
                <a:solidFill>
                  <a:srgbClr val="333333"/>
                </a:solidFill>
                <a:latin typeface="Arial"/>
              </a:rPr>
              <a:t>Besøgende på platformen</a:t>
            </a:r>
          </a:p>
          <a:p>
            <a:pPr algn="l"/>
            <a:r>
              <a:rPr sz="1100" b="0">
                <a:solidFill>
                  <a:srgbClr val="555555"/>
                </a:solidFill>
                <a:latin typeface="Arial"/>
              </a:rPr>
              <a:t>   ·   GA4 + sessions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9487" y="3703320"/>
            <a:ext cx="4572000" cy="64008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2367" y="3703320"/>
            <a:ext cx="438912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4F6C2A"/>
                </a:solidFill>
                <a:latin typeface="Arial"/>
              </a:rPr>
              <a:t>2.  </a:t>
            </a:r>
          </a:p>
          <a:p>
            <a:pPr algn="l"/>
            <a:r>
              <a:rPr sz="1400" b="1">
                <a:solidFill>
                  <a:srgbClr val="333333"/>
                </a:solidFill>
                <a:latin typeface="Arial"/>
              </a:rPr>
              <a:t>STL upload / quote start</a:t>
            </a:r>
          </a:p>
          <a:p>
            <a:pPr algn="l"/>
            <a:r>
              <a:rPr sz="1100" b="0">
                <a:solidFill>
                  <a:srgbClr val="555555"/>
                </a:solidFill>
                <a:latin typeface="Arial"/>
              </a:rPr>
              <a:t>   ·   upload_events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9487" y="4480560"/>
            <a:ext cx="4572000" cy="64008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2367" y="4480560"/>
            <a:ext cx="438912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4F6C2A"/>
                </a:solidFill>
                <a:latin typeface="Arial"/>
              </a:rPr>
              <a:t>3.  </a:t>
            </a:r>
          </a:p>
          <a:p>
            <a:pPr algn="l"/>
            <a:r>
              <a:rPr sz="1400" b="1">
                <a:solidFill>
                  <a:srgbClr val="333333"/>
                </a:solidFill>
                <a:latin typeface="Arial"/>
              </a:rPr>
              <a:t>Supplier-views</a:t>
            </a:r>
          </a:p>
          <a:p>
            <a:pPr algn="l"/>
            <a:r>
              <a:rPr sz="1100" b="0">
                <a:solidFill>
                  <a:srgbClr val="555555"/>
                </a:solidFill>
                <a:latin typeface="Arial"/>
              </a:rPr>
              <a:t>   ·   supplier_pageview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9487" y="5257800"/>
            <a:ext cx="4572000" cy="64008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2367" y="5257800"/>
            <a:ext cx="438912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4F6C2A"/>
                </a:solidFill>
                <a:latin typeface="Arial"/>
              </a:rPr>
              <a:t>4.  </a:t>
            </a:r>
          </a:p>
          <a:p>
            <a:pPr algn="l"/>
            <a:r>
              <a:rPr sz="1400" b="1">
                <a:solidFill>
                  <a:srgbClr val="333333"/>
                </a:solidFill>
                <a:latin typeface="Arial"/>
              </a:rPr>
              <a:t>Quote-form-submit  →  $50</a:t>
            </a:r>
          </a:p>
          <a:p>
            <a:pPr algn="l"/>
            <a:r>
              <a:rPr sz="1100" b="0">
                <a:solidFill>
                  <a:srgbClr val="555555"/>
                </a:solidFill>
                <a:latin typeface="Arial"/>
              </a:rPr>
              <a:t>   ·   quote_request_submit = revenue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24447" y="1645920"/>
            <a:ext cx="5303520" cy="4937760"/>
          </a:xfrm>
          <a:prstGeom prst="round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24447" y="1828800"/>
            <a:ext cx="5303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00" b="1">
                <a:solidFill>
                  <a:srgbClr val="6B8F3C"/>
                </a:solidFill>
                <a:latin typeface="Arial"/>
              </a:rPr>
              <a:t>SUPPLIER-FUNNEL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24447" y="2286000"/>
            <a:ext cx="5303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Georgia"/>
              </a:rPr>
              <a:t>Value → Revenue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90207" y="2926080"/>
            <a:ext cx="4572000" cy="640080"/>
          </a:xfrm>
          <a:prstGeom prst="round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73087" y="2926080"/>
            <a:ext cx="438912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6B8F3C"/>
                </a:solidFill>
                <a:latin typeface="Arial"/>
              </a:rPr>
              <a:t>1.  </a:t>
            </a:r>
          </a:p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Suppliers i directory</a:t>
            </a:r>
          </a:p>
          <a:p>
            <a:pPr algn="l"/>
            <a:r>
              <a:rPr sz="1100" b="0">
                <a:solidFill>
                  <a:srgbClr val="DDDDDD"/>
                </a:solidFill>
                <a:latin typeface="Arial"/>
              </a:rPr>
              <a:t>   ·   suppliers count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90207" y="3703320"/>
            <a:ext cx="4572000" cy="640080"/>
          </a:xfrm>
          <a:prstGeom prst="round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73087" y="3703320"/>
            <a:ext cx="438912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6B8F3C"/>
                </a:solidFill>
                <a:latin typeface="Arial"/>
              </a:rPr>
              <a:t>2.  </a:t>
            </a:r>
          </a:p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Leads leveret pr. supplier</a:t>
            </a:r>
          </a:p>
          <a:p>
            <a:pPr algn="l"/>
            <a:r>
              <a:rPr sz="1100" b="0">
                <a:solidFill>
                  <a:srgbClr val="DDDDDD"/>
                </a:solidFill>
                <a:latin typeface="Arial"/>
              </a:rPr>
              <a:t>   ·   quote_submit + supplier_id (gap)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90207" y="4480560"/>
            <a:ext cx="4572000" cy="640080"/>
          </a:xfrm>
          <a:prstGeom prst="round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73087" y="4480560"/>
            <a:ext cx="438912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6B8F3C"/>
                </a:solidFill>
                <a:latin typeface="Arial"/>
              </a:rPr>
              <a:t>3.  </a:t>
            </a:r>
          </a:p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Outreach + samtaler bookede</a:t>
            </a:r>
          </a:p>
          <a:p>
            <a:pPr algn="l"/>
            <a:r>
              <a:rPr sz="1100" b="0">
                <a:solidFill>
                  <a:srgbClr val="DDDDDD"/>
                </a:solidFill>
                <a:latin typeface="Arial"/>
              </a:rPr>
              <a:t>   ·   manuelt (CRM)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90207" y="5257800"/>
            <a:ext cx="4572000" cy="640080"/>
          </a:xfrm>
          <a:prstGeom prst="round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73087" y="5257800"/>
            <a:ext cx="438912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6B8F3C"/>
                </a:solidFill>
                <a:latin typeface="Arial"/>
              </a:rPr>
              <a:t>4.  </a:t>
            </a:r>
          </a:p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Underskriv $600/år-kontrakt</a:t>
            </a:r>
          </a:p>
          <a:p>
            <a:pPr algn="l"/>
            <a:r>
              <a:rPr sz="1100" b="0">
                <a:solidFill>
                  <a:srgbClr val="DDDDDD"/>
                </a:solidFill>
                <a:latin typeface="Arial"/>
              </a:rPr>
              <a:t>   ·   is_partner=true · cash up front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Georgia"/>
              </a:rPr>
              <a:t>Buyer-KPI'er (ugentligt)</a:t>
            </a:r>
          </a:p>
        </p:txBody>
      </p:sp>
      <p:sp>
        <p:nvSpPr>
          <p:cNvPr id="4" name="Rectangle 3"/>
          <p:cNvSpPr/>
          <p:nvPr/>
        </p:nvSpPr>
        <p:spPr>
          <a:xfrm>
            <a:off x="11277295" y="0"/>
            <a:ext cx="914400" cy="1280160"/>
          </a:xfrm>
          <a:prstGeom prst="rect">
            <a:avLst/>
          </a:prstGeom>
          <a:solidFill>
            <a:srgbClr val="6B8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77295" y="228600"/>
            <a:ext cx="91440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Georgia"/>
              </a:rPr>
              <a:t>5</a:t>
            </a:r>
          </a:p>
        </p:txBody>
      </p:sp>
      <p:pic>
        <p:nvPicPr>
          <p:cNvPr id="6" name="Picture 5" descr="amsupplycheck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11480"/>
            <a:ext cx="685800" cy="4572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1280160"/>
            <a:ext cx="12191695" cy="55778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737360"/>
            <a:ext cx="548640" cy="5029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737360"/>
            <a:ext cx="54864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#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5840" y="1737360"/>
            <a:ext cx="4572000" cy="5029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737360"/>
            <a:ext cx="45720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KPI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77840" y="1737360"/>
            <a:ext cx="3657600" cy="5029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77840" y="1737360"/>
            <a:ext cx="36576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Kilde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235440" y="1737360"/>
            <a:ext cx="2468880" cy="5029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0" y="1737360"/>
            <a:ext cx="246888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Ugemål @ 10k MAU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240280"/>
            <a:ext cx="54864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05840" y="2240280"/>
            <a:ext cx="45720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577840" y="2240280"/>
            <a:ext cx="36576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35440" y="2240280"/>
            <a:ext cx="246888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2240280"/>
            <a:ext cx="36576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>
                <a:solidFill>
                  <a:srgbClr val="333333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2240280"/>
            <a:ext cx="438912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Arial"/>
              </a:rPr>
              <a:t>Unikke besøgende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0" y="2240280"/>
            <a:ext cx="347472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Arial"/>
              </a:rPr>
              <a:t>GA4 / data-overview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2240280"/>
            <a:ext cx="22860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4F6C2A"/>
                </a:solidFill>
                <a:latin typeface="Arial"/>
              </a:rPr>
              <a:t>~2.500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788920"/>
            <a:ext cx="548640" cy="548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05840" y="2788920"/>
            <a:ext cx="4572000" cy="548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577840" y="2788920"/>
            <a:ext cx="3657600" cy="548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235440" y="2788920"/>
            <a:ext cx="2468880" cy="548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2788920"/>
            <a:ext cx="36576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>
                <a:solidFill>
                  <a:srgbClr val="333333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2788920"/>
            <a:ext cx="438912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Arial"/>
              </a:rPr>
              <a:t>STL-uploads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0" y="2788920"/>
            <a:ext cx="347472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Arial"/>
              </a:rPr>
              <a:t>upload_events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0" y="2788920"/>
            <a:ext cx="22860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4F6C2A"/>
                </a:solidFill>
                <a:latin typeface="Arial"/>
              </a:rPr>
              <a:t>~125  (5%)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337560"/>
            <a:ext cx="54864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05840" y="3337560"/>
            <a:ext cx="45720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577840" y="3337560"/>
            <a:ext cx="36576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235440" y="3337560"/>
            <a:ext cx="246888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3337560"/>
            <a:ext cx="36576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>
                <a:solidFill>
                  <a:srgbClr val="333333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3337560"/>
            <a:ext cx="438912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Arial"/>
              </a:rPr>
              <a:t>Supplier-views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0" y="3337560"/>
            <a:ext cx="347472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Arial"/>
              </a:rPr>
              <a:t>supplier_pageview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0" y="3337560"/>
            <a:ext cx="22860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4F6C2A"/>
                </a:solidFill>
                <a:latin typeface="Arial"/>
              </a:rPr>
              <a:t>~500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3886200"/>
            <a:ext cx="548640" cy="548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05840" y="3886200"/>
            <a:ext cx="4572000" cy="548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577840" y="3886200"/>
            <a:ext cx="3657600" cy="548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235440" y="3886200"/>
            <a:ext cx="2468880" cy="548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3886200"/>
            <a:ext cx="36576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>
                <a:solidFill>
                  <a:srgbClr val="333333"/>
                </a:solidFill>
                <a:latin typeface="Arial"/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80" y="3886200"/>
            <a:ext cx="438912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Arial"/>
              </a:rPr>
              <a:t>Outbound clicks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0" y="3886200"/>
            <a:ext cx="347472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Arial"/>
              </a:rPr>
              <a:t>outbound_click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26880" y="3886200"/>
            <a:ext cx="22860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4F6C2A"/>
                </a:solidFill>
                <a:latin typeface="Arial"/>
              </a:rPr>
              <a:t>~75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434840"/>
            <a:ext cx="54864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05840" y="4434840"/>
            <a:ext cx="45720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577840" y="4434840"/>
            <a:ext cx="36576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235440" y="4434840"/>
            <a:ext cx="246888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40" y="4434840"/>
            <a:ext cx="36576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4F6C2A"/>
                </a:solidFill>
                <a:latin typeface="Arial"/>
              </a:rPr>
              <a:t>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97280" y="4434840"/>
            <a:ext cx="438912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4F6C2A"/>
                </a:solidFill>
                <a:latin typeface="Arial"/>
              </a:rPr>
              <a:t>Quote-form-submits  ⇒  $50/stk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69280" y="4434840"/>
            <a:ext cx="347472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4F6C2A"/>
                </a:solidFill>
                <a:latin typeface="Arial"/>
              </a:rPr>
              <a:t>quote_request_submit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326880" y="4434840"/>
            <a:ext cx="22860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4F6C2A"/>
                </a:solidFill>
                <a:latin typeface="Arial"/>
              </a:rPr>
              <a:t>~12  ($600/uge)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7200" y="4983480"/>
            <a:ext cx="548640" cy="548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005840" y="4983480"/>
            <a:ext cx="4572000" cy="548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577840" y="4983480"/>
            <a:ext cx="3657600" cy="548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235440" y="4983480"/>
            <a:ext cx="2468880" cy="548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8640" y="4983480"/>
            <a:ext cx="36576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4F6C2A"/>
                </a:solidFill>
                <a:latin typeface="Arial"/>
              </a:rPr>
              <a:t>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97280" y="4983480"/>
            <a:ext cx="438912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4F6C2A"/>
                </a:solidFill>
                <a:latin typeface="Arial"/>
              </a:rPr>
              <a:t>Quote-form conversion-rate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0" y="4983480"/>
            <a:ext cx="347472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4F6C2A"/>
                </a:solidFill>
                <a:latin typeface="Arial"/>
              </a:rPr>
              <a:t>beregnet (submits/visits)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326880" y="4983480"/>
            <a:ext cx="22860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4F6C2A"/>
                </a:solidFill>
                <a:latin typeface="Arial"/>
              </a:rPr>
              <a:t>0,5%  (i dag ~0,25%)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" y="6035040"/>
            <a:ext cx="11277295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4F6C2A"/>
                </a:solidFill>
                <a:latin typeface="Arial"/>
              </a:rPr>
              <a:t>KPI #5 = revenue-event ($50 pr. submit). KPI #6 = højeste leverage: lift 0,25% → 0,5% = 2× lead-revenue uden ny trafik.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Georgia"/>
              </a:rPr>
              <a:t>Supplier-KPI'er (revenue path)</a:t>
            </a:r>
          </a:p>
        </p:txBody>
      </p:sp>
      <p:sp>
        <p:nvSpPr>
          <p:cNvPr id="4" name="Rectangle 3"/>
          <p:cNvSpPr/>
          <p:nvPr/>
        </p:nvSpPr>
        <p:spPr>
          <a:xfrm>
            <a:off x="11277295" y="0"/>
            <a:ext cx="914400" cy="1280160"/>
          </a:xfrm>
          <a:prstGeom prst="rect">
            <a:avLst/>
          </a:prstGeom>
          <a:solidFill>
            <a:srgbClr val="6B8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77295" y="228600"/>
            <a:ext cx="91440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Georgia"/>
              </a:rPr>
              <a:t>6</a:t>
            </a:r>
          </a:p>
        </p:txBody>
      </p:sp>
      <p:pic>
        <p:nvPicPr>
          <p:cNvPr id="6" name="Picture 5" descr="amsupplycheck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11480"/>
            <a:ext cx="685800" cy="4572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1280160"/>
            <a:ext cx="12191695" cy="55778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737360"/>
            <a:ext cx="548640" cy="5029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737360"/>
            <a:ext cx="54864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#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5840" y="1737360"/>
            <a:ext cx="5029200" cy="5029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737360"/>
            <a:ext cx="50292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KPI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0" y="1737360"/>
            <a:ext cx="3657600" cy="5029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0" y="1737360"/>
            <a:ext cx="36576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Kilde i dag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1737360"/>
            <a:ext cx="2011680" cy="5029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0" y="1737360"/>
            <a:ext cx="201168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Status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240280"/>
            <a:ext cx="54864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05840" y="2240280"/>
            <a:ext cx="50292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35040" y="2240280"/>
            <a:ext cx="36576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692640" y="2240280"/>
            <a:ext cx="201168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2240280"/>
            <a:ext cx="36576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>
                <a:solidFill>
                  <a:srgbClr val="333333"/>
                </a:solidFill>
                <a:latin typeface="Arial"/>
              </a:rP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2240280"/>
            <a:ext cx="484632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Arial"/>
              </a:rPr>
              <a:t>Aktive suppliers i directory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2240280"/>
            <a:ext cx="347472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Arial"/>
              </a:rPr>
              <a:t>suppliers count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0" y="2240280"/>
            <a:ext cx="1828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>
                <a:solidFill>
                  <a:srgbClr val="4F6C2A"/>
                </a:solidFill>
                <a:latin typeface="Arial"/>
              </a:rPr>
              <a:t>TRACKES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788920"/>
            <a:ext cx="548640" cy="548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05840" y="2788920"/>
            <a:ext cx="5029200" cy="548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35040" y="2788920"/>
            <a:ext cx="3657600" cy="548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692640" y="2788920"/>
            <a:ext cx="2011680" cy="548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2788920"/>
            <a:ext cx="36576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>
                <a:solidFill>
                  <a:srgbClr val="333333"/>
                </a:solidFill>
                <a:latin typeface="Arial"/>
              </a:rP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2788920"/>
            <a:ext cx="484632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Arial"/>
              </a:rPr>
              <a:t>Leads leveret pr. partner (uge)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26480" y="2788920"/>
            <a:ext cx="347472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Arial"/>
              </a:rPr>
              <a:t>quote_submit + supplier_id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0" y="2788920"/>
            <a:ext cx="1828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>
                <a:solidFill>
                  <a:srgbClr val="CC4444"/>
                </a:solidFill>
                <a:latin typeface="Arial"/>
              </a:rPr>
              <a:t>GAP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337560"/>
            <a:ext cx="54864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05840" y="3337560"/>
            <a:ext cx="50292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035040" y="3337560"/>
            <a:ext cx="36576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692640" y="3337560"/>
            <a:ext cx="201168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3337560"/>
            <a:ext cx="36576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>
                <a:solidFill>
                  <a:srgbClr val="333333"/>
                </a:solidFill>
                <a:latin typeface="Arial"/>
              </a:rPr>
              <a:t>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3337560"/>
            <a:ext cx="484632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Arial"/>
              </a:rPr>
              <a:t>Booked partner-samtaler (uge)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26480" y="3337560"/>
            <a:ext cx="347472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Arial"/>
              </a:rPr>
              <a:t>manuelt (CRM/regneark)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84080" y="3337560"/>
            <a:ext cx="1828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>
                <a:solidFill>
                  <a:srgbClr val="CC4444"/>
                </a:solidFill>
                <a:latin typeface="Arial"/>
              </a:rPr>
              <a:t>GAP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3886200"/>
            <a:ext cx="548640" cy="548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05840" y="3886200"/>
            <a:ext cx="5029200" cy="548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035040" y="3886200"/>
            <a:ext cx="3657600" cy="548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692640" y="3886200"/>
            <a:ext cx="2011680" cy="548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3886200"/>
            <a:ext cx="36576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>
                <a:solidFill>
                  <a:srgbClr val="333333"/>
                </a:solidFill>
                <a:latin typeface="Arial"/>
              </a:rPr>
              <a:t>10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80" y="3886200"/>
            <a:ext cx="484632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4F6C2A"/>
                </a:solidFill>
                <a:latin typeface="Arial"/>
              </a:rPr>
              <a:t>Nye partnere (uge) × $600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26480" y="3886200"/>
            <a:ext cx="347472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Arial"/>
              </a:rPr>
              <a:t>is_partner=true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84080" y="3886200"/>
            <a:ext cx="1828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>
                <a:solidFill>
                  <a:srgbClr val="4F6C2A"/>
                </a:solidFill>
                <a:latin typeface="Arial"/>
              </a:rPr>
              <a:t>TRACKES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434840"/>
            <a:ext cx="54864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05840" y="4434840"/>
            <a:ext cx="50292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035040" y="4434840"/>
            <a:ext cx="36576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692640" y="4434840"/>
            <a:ext cx="201168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40" y="4434840"/>
            <a:ext cx="36576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>
                <a:solidFill>
                  <a:srgbClr val="333333"/>
                </a:solidFill>
                <a:latin typeface="Arial"/>
              </a:rPr>
              <a:t>11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97280" y="4434840"/>
            <a:ext cx="484632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4F6C2A"/>
                </a:solidFill>
                <a:latin typeface="Arial"/>
              </a:rPr>
              <a:t>Annual revenue booked (kvt.)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26480" y="4434840"/>
            <a:ext cx="347472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Arial"/>
              </a:rPr>
              <a:t>$600 × nye partnere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784080" y="4434840"/>
            <a:ext cx="1828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>
                <a:solidFill>
                  <a:srgbClr val="CC4444"/>
                </a:solidFill>
                <a:latin typeface="Arial"/>
              </a:rPr>
              <a:t>GAP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7200" y="4983480"/>
            <a:ext cx="548640" cy="548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005840" y="4983480"/>
            <a:ext cx="5029200" cy="548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035040" y="4983480"/>
            <a:ext cx="3657600" cy="548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692640" y="4983480"/>
            <a:ext cx="2011680" cy="548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8640" y="4983480"/>
            <a:ext cx="36576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>
                <a:solidFill>
                  <a:srgbClr val="333333"/>
                </a:solidFill>
                <a:latin typeface="Arial"/>
              </a:rPr>
              <a:t>12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97280" y="4983480"/>
            <a:ext cx="484632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Arial"/>
              </a:rPr>
              <a:t>Renewal-rate (efter 12 mdr.)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126480" y="4983480"/>
            <a:ext cx="347472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Arial"/>
              </a:rPr>
              <a:t>fra md. 13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784080" y="4983480"/>
            <a:ext cx="1828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>
                <a:solidFill>
                  <a:srgbClr val="E0A030"/>
                </a:solidFill>
                <a:latin typeface="Arial"/>
              </a:rPr>
              <a:t>FREMTID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" y="6035040"/>
            <a:ext cx="11277295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CC4444"/>
                </a:solidFill>
                <a:latin typeface="Arial"/>
              </a:rPr>
              <a:t>3 GAPs + 1 fremtid. Lead-attribution (KPI #8) er revenue-kritisk — hver utracket submit = $50 tabt. Se slide 10.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Georgia"/>
              </a:rPr>
              <a:t>Baseline i dag</a:t>
            </a:r>
          </a:p>
        </p:txBody>
      </p:sp>
      <p:sp>
        <p:nvSpPr>
          <p:cNvPr id="4" name="Rectangle 3"/>
          <p:cNvSpPr/>
          <p:nvPr/>
        </p:nvSpPr>
        <p:spPr>
          <a:xfrm>
            <a:off x="11277295" y="0"/>
            <a:ext cx="914400" cy="1280160"/>
          </a:xfrm>
          <a:prstGeom prst="rect">
            <a:avLst/>
          </a:prstGeom>
          <a:solidFill>
            <a:srgbClr val="6B8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77295" y="228600"/>
            <a:ext cx="91440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Georgia"/>
              </a:rPr>
              <a:t>7</a:t>
            </a:r>
          </a:p>
        </p:txBody>
      </p:sp>
      <p:pic>
        <p:nvPicPr>
          <p:cNvPr id="6" name="Picture 5" descr="amsupplycheck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11480"/>
            <a:ext cx="685800" cy="4572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1280160"/>
            <a:ext cx="12191695" cy="55778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08760"/>
            <a:ext cx="11277295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Arial"/>
              </a:rPr>
              <a:t>Udfyldes hver mandag fra /admin/data-overview (7-dages vindue)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5127" y="2103120"/>
            <a:ext cx="2743200" cy="155448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5127" y="2103120"/>
            <a:ext cx="109728" cy="1554480"/>
          </a:xfrm>
          <a:prstGeom prst="rect">
            <a:avLst/>
          </a:prstGeom>
          <a:solidFill>
            <a:srgbClr val="E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447" y="2240280"/>
            <a:ext cx="23774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5555"/>
                </a:solidFill>
                <a:latin typeface="Arial"/>
              </a:rPr>
              <a:t>Unikke besøgende/uge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447" y="2560320"/>
            <a:ext cx="23774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>
                <a:solidFill>
                  <a:srgbClr val="555555"/>
                </a:solidFill>
                <a:latin typeface="Georgia"/>
              </a:rPr>
              <a:t>____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447" y="3291840"/>
            <a:ext cx="23774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Arial"/>
              </a:rPr>
              <a:t>mål: 2.500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61207" y="2103120"/>
            <a:ext cx="2743200" cy="155448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61207" y="2103120"/>
            <a:ext cx="109728" cy="1554480"/>
          </a:xfrm>
          <a:prstGeom prst="rect">
            <a:avLst/>
          </a:prstGeom>
          <a:solidFill>
            <a:srgbClr val="E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5527" y="2240280"/>
            <a:ext cx="23774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5555"/>
                </a:solidFill>
                <a:latin typeface="Arial"/>
              </a:rPr>
              <a:t>Quote-form-submits/uge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35527" y="2560320"/>
            <a:ext cx="23774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>
                <a:solidFill>
                  <a:srgbClr val="555555"/>
                </a:solidFill>
                <a:latin typeface="Georgia"/>
              </a:rPr>
              <a:t>____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5527" y="3291840"/>
            <a:ext cx="23774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Arial"/>
              </a:rPr>
              <a:t>mål: 12 ($600/uge)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7287" y="2103120"/>
            <a:ext cx="2743200" cy="155448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87287" y="2103120"/>
            <a:ext cx="109728" cy="1554480"/>
          </a:xfrm>
          <a:prstGeom prst="rect">
            <a:avLst/>
          </a:prstGeom>
          <a:solidFill>
            <a:srgbClr val="E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61607" y="2240280"/>
            <a:ext cx="23774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5555"/>
                </a:solidFill>
                <a:latin typeface="Arial"/>
              </a:rPr>
              <a:t>Conversion-rate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1607" y="2560320"/>
            <a:ext cx="23774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>
                <a:solidFill>
                  <a:srgbClr val="555555"/>
                </a:solidFill>
                <a:latin typeface="Georgia"/>
              </a:rPr>
              <a:t>____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61607" y="3291840"/>
            <a:ext cx="23774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Arial"/>
              </a:rPr>
              <a:t>mål: 0,5%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13367" y="2103120"/>
            <a:ext cx="2743200" cy="155448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13367" y="2103120"/>
            <a:ext cx="109728" cy="1554480"/>
          </a:xfrm>
          <a:prstGeom prst="rect">
            <a:avLst/>
          </a:prstGeom>
          <a:solidFill>
            <a:srgbClr val="E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87687" y="2240280"/>
            <a:ext cx="23774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5555"/>
                </a:solidFill>
                <a:latin typeface="Arial"/>
              </a:rPr>
              <a:t>Outbound clicks/uge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87687" y="2560320"/>
            <a:ext cx="23774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>
                <a:solidFill>
                  <a:srgbClr val="555555"/>
                </a:solidFill>
                <a:latin typeface="Georgia"/>
              </a:rPr>
              <a:t>____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87687" y="3291840"/>
            <a:ext cx="23774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Arial"/>
              </a:rPr>
              <a:t>mål: 75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35127" y="3840480"/>
            <a:ext cx="2743200" cy="155448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35127" y="3840480"/>
            <a:ext cx="109728" cy="1554480"/>
          </a:xfrm>
          <a:prstGeom prst="rect">
            <a:avLst/>
          </a:prstGeom>
          <a:solidFill>
            <a:srgbClr val="E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9447" y="3977640"/>
            <a:ext cx="23774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5555"/>
                </a:solidFill>
                <a:latin typeface="Arial"/>
              </a:rPr>
              <a:t>Aktive suppliers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447" y="4297680"/>
            <a:ext cx="23774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>
                <a:solidFill>
                  <a:srgbClr val="555555"/>
                </a:solidFill>
                <a:latin typeface="Georgia"/>
              </a:rPr>
              <a:t>____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447" y="5029200"/>
            <a:ext cx="23774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Arial"/>
              </a:rPr>
              <a:t>directory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61207" y="3840480"/>
            <a:ext cx="2743200" cy="1554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261207" y="3840480"/>
            <a:ext cx="109728" cy="1554480"/>
          </a:xfrm>
          <a:prstGeom prst="rect">
            <a:avLst/>
          </a:prstGeom>
          <a:solidFill>
            <a:srgbClr val="6B8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35527" y="3977640"/>
            <a:ext cx="23774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5555"/>
                </a:solidFill>
                <a:latin typeface="Arial"/>
              </a:rPr>
              <a:t>Betalende partnere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35527" y="4297680"/>
            <a:ext cx="23774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>
                <a:solidFill>
                  <a:srgbClr val="4F6C2A"/>
                </a:solidFill>
                <a:latin typeface="Georgia"/>
              </a:rPr>
              <a:t>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35527" y="5029200"/>
            <a:ext cx="23774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Arial"/>
              </a:rPr>
              <a:t>AM Printservice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87287" y="3840480"/>
            <a:ext cx="2743200" cy="1554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87287" y="3840480"/>
            <a:ext cx="109728" cy="1554480"/>
          </a:xfrm>
          <a:prstGeom prst="rect">
            <a:avLst/>
          </a:prstGeom>
          <a:solidFill>
            <a:srgbClr val="6B8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61607" y="3977640"/>
            <a:ext cx="23774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5555"/>
                </a:solidFill>
                <a:latin typeface="Arial"/>
              </a:rPr>
              <a:t>Revenue booked YTD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61607" y="4297680"/>
            <a:ext cx="23774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>
                <a:solidFill>
                  <a:srgbClr val="4F6C2A"/>
                </a:solidFill>
                <a:latin typeface="Georgia"/>
              </a:rPr>
              <a:t>$600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61607" y="5029200"/>
            <a:ext cx="23774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Arial"/>
              </a:rPr>
              <a:t>1 × $600/år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113367" y="3840480"/>
            <a:ext cx="2743200" cy="1554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113367" y="3840480"/>
            <a:ext cx="109728" cy="1554480"/>
          </a:xfrm>
          <a:prstGeom prst="rect">
            <a:avLst/>
          </a:prstGeom>
          <a:solidFill>
            <a:srgbClr val="6B8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387687" y="3977640"/>
            <a:ext cx="23774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5555"/>
                </a:solidFill>
                <a:latin typeface="Arial"/>
              </a:rPr>
              <a:t>Gap til 30k DKK/md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87687" y="4297680"/>
            <a:ext cx="23774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>
                <a:solidFill>
                  <a:srgbClr val="4F6C2A"/>
                </a:solidFill>
                <a:latin typeface="Georgia"/>
              </a:rPr>
              <a:t>$4.350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387687" y="5029200"/>
            <a:ext cx="23774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Arial"/>
              </a:rPr>
              <a:t>≈ 29.800 DKK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6217920"/>
            <a:ext cx="11277295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6B8F3C"/>
                </a:solidFill>
                <a:latin typeface="Arial"/>
              </a:rPr>
              <a:t>■ </a:t>
            </a:r>
          </a:p>
          <a:p>
            <a:pPr algn="l"/>
            <a:r>
              <a:rPr sz="1100" b="0">
                <a:solidFill>
                  <a:srgbClr val="555555"/>
                </a:solidFill>
                <a:latin typeface="Arial"/>
              </a:rPr>
              <a:t>kendt baseline   </a:t>
            </a:r>
          </a:p>
          <a:p>
            <a:pPr algn="l"/>
            <a:r>
              <a:rPr sz="1400" b="1">
                <a:solidFill>
                  <a:srgbClr val="E0A030"/>
                </a:solidFill>
                <a:latin typeface="Arial"/>
              </a:rPr>
              <a:t>■ </a:t>
            </a:r>
          </a:p>
          <a:p>
            <a:pPr algn="l"/>
            <a:r>
              <a:rPr sz="1100" b="0">
                <a:solidFill>
                  <a:srgbClr val="555555"/>
                </a:solidFill>
                <a:latin typeface="Arial"/>
              </a:rPr>
              <a:t>udfyldes ugentligt fra admin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Georgia"/>
              </a:rPr>
              <a:t>Konvertering — fra trafik til kliks</a:t>
            </a:r>
          </a:p>
        </p:txBody>
      </p:sp>
      <p:sp>
        <p:nvSpPr>
          <p:cNvPr id="4" name="Rectangle 3"/>
          <p:cNvSpPr/>
          <p:nvPr/>
        </p:nvSpPr>
        <p:spPr>
          <a:xfrm>
            <a:off x="11277295" y="0"/>
            <a:ext cx="914400" cy="1280160"/>
          </a:xfrm>
          <a:prstGeom prst="rect">
            <a:avLst/>
          </a:prstGeom>
          <a:solidFill>
            <a:srgbClr val="6B8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77295" y="228600"/>
            <a:ext cx="91440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Georgia"/>
              </a:rPr>
              <a:t>8</a:t>
            </a:r>
          </a:p>
        </p:txBody>
      </p:sp>
      <p:pic>
        <p:nvPicPr>
          <p:cNvPr id="6" name="Picture 5" descr="amsupplycheck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11480"/>
            <a:ext cx="685800" cy="4572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1280160"/>
            <a:ext cx="12191695" cy="55778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011680" y="1828800"/>
            <a:ext cx="8229600" cy="640080"/>
          </a:xfrm>
          <a:prstGeom prst="roundRect">
            <a:avLst/>
          </a:prstGeom>
          <a:solidFill>
            <a:srgbClr val="4F6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1828800"/>
            <a:ext cx="82296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Georgia"/>
              </a:rPr>
              <a:t>2.500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828800"/>
            <a:ext cx="15544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300" b="1">
                <a:solidFill>
                  <a:srgbClr val="333333"/>
                </a:solidFill>
                <a:latin typeface="Arial"/>
              </a:rPr>
              <a:t>Besøgende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1828800"/>
            <a:ext cx="146304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4F6C2A"/>
                </a:solidFill>
                <a:latin typeface="Arial"/>
              </a:rPr>
              <a:t>100%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40680" y="2697480"/>
            <a:ext cx="1371600" cy="640080"/>
          </a:xfrm>
          <a:prstGeom prst="roundRect">
            <a:avLst/>
          </a:prstGeom>
          <a:solidFill>
            <a:srgbClr val="6B8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40680" y="2697480"/>
            <a:ext cx="13716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Georgia"/>
              </a:rPr>
              <a:t>250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697480"/>
            <a:ext cx="15544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300" b="1">
                <a:solidFill>
                  <a:srgbClr val="333333"/>
                </a:solidFill>
                <a:latin typeface="Arial"/>
              </a:rPr>
              <a:t>STL-upload eller quote-start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697480"/>
            <a:ext cx="146304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4F6C2A"/>
                </a:solidFill>
                <a:latin typeface="Arial"/>
              </a:rPr>
              <a:t>10%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03520" y="3566160"/>
            <a:ext cx="1645920" cy="640080"/>
          </a:xfrm>
          <a:prstGeom prst="roundRect">
            <a:avLst/>
          </a:prstGeom>
          <a:solidFill>
            <a:srgbClr val="6B8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0" y="3566160"/>
            <a:ext cx="164592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Georgia"/>
              </a:rPr>
              <a:t>500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566160"/>
            <a:ext cx="15544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300" b="1">
                <a:solidFill>
                  <a:srgbClr val="333333"/>
                </a:solidFill>
                <a:latin typeface="Arial"/>
              </a:rPr>
              <a:t>Supplier-views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566160"/>
            <a:ext cx="146304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4F6C2A"/>
                </a:solidFill>
                <a:latin typeface="Arial"/>
              </a:rPr>
              <a:t>20%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40680" y="4434840"/>
            <a:ext cx="1371600" cy="640080"/>
          </a:xfrm>
          <a:prstGeom prst="roundRect">
            <a:avLst/>
          </a:prstGeom>
          <a:solidFill>
            <a:srgbClr val="E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40680" y="4434840"/>
            <a:ext cx="13716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Georgia"/>
              </a:rPr>
              <a:t>75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4434840"/>
            <a:ext cx="15544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300" b="1">
                <a:solidFill>
                  <a:srgbClr val="333333"/>
                </a:solidFill>
                <a:latin typeface="Arial"/>
              </a:rPr>
              <a:t>Outbound clicks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32720" y="4434840"/>
            <a:ext cx="146304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4F6C2A"/>
                </a:solidFill>
                <a:latin typeface="Arial"/>
              </a:rPr>
              <a:t>3%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40680" y="5303520"/>
            <a:ext cx="1371600" cy="640080"/>
          </a:xfrm>
          <a:prstGeom prst="roundRect">
            <a:avLst/>
          </a:prstGeom>
          <a:solidFill>
            <a:srgbClr val="CC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40680" y="5303520"/>
            <a:ext cx="13716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Georgia"/>
              </a:rPr>
              <a:t>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5303520"/>
            <a:ext cx="15544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300" b="1">
                <a:solidFill>
                  <a:srgbClr val="333333"/>
                </a:solidFill>
                <a:latin typeface="Arial"/>
              </a:rPr>
              <a:t>Quote requests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2720" y="5303520"/>
            <a:ext cx="146304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4F6C2A"/>
                </a:solidFill>
                <a:latin typeface="Arial"/>
              </a:rPr>
              <a:t>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5852160"/>
            <a:ext cx="11277295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Arial"/>
              </a:rPr>
              <a:t>* Supplier-views = 20% pga. flere visninger pr. session (typisk 4-5 leverandører i én sammenligning).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263640"/>
            <a:ext cx="11277295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4F6C2A"/>
                </a:solidFill>
                <a:latin typeface="Arial"/>
              </a:rPr>
              <a:t>Headline-revenue: hver Quote-form-submit = $50. Lift 0,25% → 0,5% = $1.250/md ekstra uden ny trafik.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Georgia"/>
              </a:rPr>
              <a:t>Ugentlig review-rutine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11277295" y="0"/>
            <a:ext cx="914400" cy="1280160"/>
          </a:xfrm>
          <a:prstGeom prst="rect">
            <a:avLst/>
          </a:prstGeom>
          <a:solidFill>
            <a:srgbClr val="6B8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77295" y="228600"/>
            <a:ext cx="91440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Georgia"/>
              </a:rPr>
              <a:t>9</a:t>
            </a:r>
          </a:p>
        </p:txBody>
      </p:sp>
      <p:pic>
        <p:nvPicPr>
          <p:cNvPr id="6" name="Picture 5" descr="amsupplycheck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11480"/>
            <a:ext cx="685800" cy="4572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1280160"/>
            <a:ext cx="12191695" cy="55778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645920"/>
            <a:ext cx="10881360" cy="822960"/>
          </a:xfrm>
          <a:prstGeom prst="round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45920"/>
            <a:ext cx="1033272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600" b="1">
                <a:solidFill>
                  <a:srgbClr val="6B8F3C"/>
                </a:solidFill>
                <a:latin typeface="Arial"/>
              </a:rPr>
              <a:t>MANDAG MORGEN   ·   30 MIN   ·   </a:t>
            </a:r>
          </a:p>
          <a:p>
            <a:pPr algn="l"/>
            <a:r>
              <a:rPr sz="1600" b="0">
                <a:solidFill>
                  <a:srgbClr val="FFFFFF"/>
                </a:solidFill>
                <a:latin typeface="Arial"/>
              </a:rPr>
              <a:t>/admin/data-overview  +  dette KPI-deck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9447" y="2743200"/>
            <a:ext cx="2606040" cy="3108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55267" y="3108960"/>
            <a:ext cx="914400" cy="914400"/>
          </a:xfrm>
          <a:prstGeom prst="ellipse">
            <a:avLst/>
          </a:prstGeom>
          <a:solidFill>
            <a:srgbClr val="6B8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55267" y="3108960"/>
            <a:ext cx="914400" cy="9144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327" y="4297680"/>
            <a:ext cx="2240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00" b="1">
                <a:solidFill>
                  <a:srgbClr val="333333"/>
                </a:solidFill>
                <a:latin typeface="Georgia"/>
              </a:rPr>
              <a:t>Notér tallene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3767" y="4846320"/>
            <a:ext cx="20574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Arial"/>
              </a:rPr>
              <a:t>For hver KPI: denne uge vs. sidste uge vs. 4-ugers rullende gennemsnit.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98367" y="2743200"/>
            <a:ext cx="2606040" cy="3108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244187" y="3108960"/>
            <a:ext cx="914400" cy="914400"/>
          </a:xfrm>
          <a:prstGeom prst="ellipse">
            <a:avLst/>
          </a:prstGeom>
          <a:solidFill>
            <a:srgbClr val="6B8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44187" y="3108960"/>
            <a:ext cx="914400" cy="9144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1247" y="4297680"/>
            <a:ext cx="2240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00" b="1">
                <a:solidFill>
                  <a:srgbClr val="333333"/>
                </a:solidFill>
                <a:latin typeface="Georgia"/>
              </a:rPr>
              <a:t>Find bevægelsen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72687" y="4846320"/>
            <a:ext cx="20574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Arial"/>
              </a:rPr>
              <a:t>Hvilke 1-2 metrics rykker mest? Skriv ÉN linje om hvorfor.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87287" y="2743200"/>
            <a:ext cx="2606040" cy="3108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33107" y="3108960"/>
            <a:ext cx="914400" cy="914400"/>
          </a:xfrm>
          <a:prstGeom prst="ellipse">
            <a:avLst/>
          </a:prstGeom>
          <a:solidFill>
            <a:srgbClr val="6B8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33107" y="3108960"/>
            <a:ext cx="914400" cy="9144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0167" y="4297680"/>
            <a:ext cx="2240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00" b="1">
                <a:solidFill>
                  <a:srgbClr val="333333"/>
                </a:solidFill>
                <a:latin typeface="Georgia"/>
              </a:rPr>
              <a:t>Vælg ÉT fokus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61607" y="4846320"/>
            <a:ext cx="20574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Arial"/>
              </a:rPr>
              <a:t>Top-of-funnel, conversion, eller supplier-outreach? Skriv det ned.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6207" y="2743200"/>
            <a:ext cx="2606040" cy="3108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822027" y="3108960"/>
            <a:ext cx="914400" cy="914400"/>
          </a:xfrm>
          <a:prstGeom prst="ellipse">
            <a:avLst/>
          </a:prstGeom>
          <a:solidFill>
            <a:srgbClr val="6B8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22027" y="3108960"/>
            <a:ext cx="914400" cy="9144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9087" y="4297680"/>
            <a:ext cx="2240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00" b="1">
                <a:solidFill>
                  <a:srgbClr val="333333"/>
                </a:solidFill>
                <a:latin typeface="Georgia"/>
              </a:rPr>
              <a:t>Log beslutningen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50527" y="4846320"/>
            <a:ext cx="20574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Arial"/>
              </a:rPr>
              <a:t>Tilføj en ugeslide eller en linje i Notion. Hold dig selv accountable.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Georgia"/>
              </a:rPr>
              <a:t>Hvad mangler vi at tracke?</a:t>
            </a:r>
          </a:p>
        </p:txBody>
      </p:sp>
      <p:sp>
        <p:nvSpPr>
          <p:cNvPr id="4" name="Rectangle 3"/>
          <p:cNvSpPr/>
          <p:nvPr/>
        </p:nvSpPr>
        <p:spPr>
          <a:xfrm>
            <a:off x="11277295" y="0"/>
            <a:ext cx="914400" cy="1280160"/>
          </a:xfrm>
          <a:prstGeom prst="rect">
            <a:avLst/>
          </a:prstGeom>
          <a:solidFill>
            <a:srgbClr val="6B8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77295" y="228600"/>
            <a:ext cx="91440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Georgia"/>
              </a:rPr>
              <a:t>10</a:t>
            </a:r>
          </a:p>
        </p:txBody>
      </p:sp>
      <p:pic>
        <p:nvPicPr>
          <p:cNvPr id="6" name="Picture 5" descr="amsupplycheck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11480"/>
            <a:ext cx="685800" cy="4572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1280160"/>
            <a:ext cx="12191695" cy="55778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08760"/>
            <a:ext cx="11277295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Arial"/>
              </a:rPr>
              <a:t>3 instrumentations-bygges for at KPI'erne kan måles løbende.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567" y="2103120"/>
            <a:ext cx="3657600" cy="4114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6567" y="2103120"/>
            <a:ext cx="3657600" cy="137160"/>
          </a:xfrm>
          <a:prstGeom prst="rect">
            <a:avLst/>
          </a:prstGeom>
          <a:solidFill>
            <a:srgbClr val="CC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0887" y="2468880"/>
            <a:ext cx="822960" cy="320040"/>
          </a:xfrm>
          <a:prstGeom prst="roundRect">
            <a:avLst/>
          </a:prstGeom>
          <a:solidFill>
            <a:srgbClr val="CC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0887" y="2468880"/>
            <a:ext cx="82296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GAP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0887" y="2926080"/>
            <a:ext cx="310896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Georgia"/>
              </a:rPr>
              <a:t>partner_subscriptions tabel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887" y="3840480"/>
            <a:ext cx="31089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4F6C2A"/>
                </a:solidFill>
                <a:latin typeface="Arial"/>
              </a:rPr>
              <a:t>Driver KPI #10/#11 (Revenue booked + Renewal)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0887" y="4389120"/>
            <a:ext cx="3108960" cy="1645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Arial"/>
              </a:rPr>
              <a:t>Simpel: supplier_id, paid_amount_usd (600), paid_at, expires_at (+12md), renewal_status. Ingen tiers. Manuel fakturering for nu, Stripe senere.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67047" y="2103120"/>
            <a:ext cx="3657600" cy="4114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67047" y="2103120"/>
            <a:ext cx="3657600" cy="137160"/>
          </a:xfrm>
          <a:prstGeom prst="rect">
            <a:avLst/>
          </a:prstGeom>
          <a:solidFill>
            <a:srgbClr val="CC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541367" y="2468880"/>
            <a:ext cx="822960" cy="320040"/>
          </a:xfrm>
          <a:prstGeom prst="roundRect">
            <a:avLst/>
          </a:prstGeom>
          <a:solidFill>
            <a:srgbClr val="CC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41367" y="2468880"/>
            <a:ext cx="82296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GAP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1367" y="2926080"/>
            <a:ext cx="310896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Georgia"/>
              </a:rPr>
              <a:t>Lead-attribution (revenue-kritisk)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367" y="3840480"/>
            <a:ext cx="31089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4F6C2A"/>
                </a:solidFill>
                <a:latin typeface="Arial"/>
              </a:rPr>
              <a:t>Driver KPI #5 ($50/lead) + KPI #8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41367" y="4389120"/>
            <a:ext cx="3108960" cy="1645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Arial"/>
              </a:rPr>
              <a:t>Tilføj supplier_id til quote_request_submit-event + ny partner_leads tabel. Hver utracket submit = $50 tabt. Samtidig fix: selectItems/searches/supplier_id GTM-tagging.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07527" y="2103120"/>
            <a:ext cx="3657600" cy="4114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07527" y="2103120"/>
            <a:ext cx="3657600" cy="137160"/>
          </a:xfrm>
          <a:prstGeom prst="rect">
            <a:avLst/>
          </a:prstGeom>
          <a:solidFill>
            <a:srgbClr val="CC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381847" y="2468880"/>
            <a:ext cx="822960" cy="320040"/>
          </a:xfrm>
          <a:prstGeom prst="roundRect">
            <a:avLst/>
          </a:prstGeom>
          <a:solidFill>
            <a:srgbClr val="CC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81847" y="2468880"/>
            <a:ext cx="82296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GAP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1847" y="2926080"/>
            <a:ext cx="310896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Georgia"/>
              </a:rPr>
              <a:t>MAU-query i admin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1847" y="3840480"/>
            <a:ext cx="31089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4F6C2A"/>
                </a:solidFill>
                <a:latin typeface="Arial"/>
              </a:rPr>
              <a:t>Driver KPI #1 (Unikke besøgende)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81847" y="4389120"/>
            <a:ext cx="3108960" cy="1645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Arial"/>
              </a:rPr>
              <a:t>Brug GA4-edge function (ga4-analytics) eller udled fra analytics_events.session_id distinct count over 30 dage. Vis i /admin/data-overview.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Georgia"/>
              </a:rPr>
              <a:t>90-dages fokus</a:t>
            </a:r>
          </a:p>
        </p:txBody>
      </p:sp>
      <p:sp>
        <p:nvSpPr>
          <p:cNvPr id="4" name="Rectangle 3"/>
          <p:cNvSpPr/>
          <p:nvPr/>
        </p:nvSpPr>
        <p:spPr>
          <a:xfrm>
            <a:off x="11277295" y="0"/>
            <a:ext cx="914400" cy="1280160"/>
          </a:xfrm>
          <a:prstGeom prst="rect">
            <a:avLst/>
          </a:prstGeom>
          <a:solidFill>
            <a:srgbClr val="6B8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77295" y="228600"/>
            <a:ext cx="91440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Georgia"/>
              </a:rPr>
              <a:t>11</a:t>
            </a:r>
          </a:p>
        </p:txBody>
      </p:sp>
      <p:pic>
        <p:nvPicPr>
          <p:cNvPr id="6" name="Picture 5" descr="amsupplycheck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11480"/>
            <a:ext cx="685800" cy="4572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1280160"/>
            <a:ext cx="12191695" cy="55778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08760"/>
            <a:ext cx="11277295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Arial"/>
              </a:rPr>
              <a:t>Næste 12 uger: ÉN KPI er det primære fokus pr. uge. Skift uge for uge.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5147" y="2103120"/>
            <a:ext cx="2697480" cy="4023360"/>
          </a:xfrm>
          <a:prstGeom prst="round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9467" y="2468880"/>
            <a:ext cx="21488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Uge 1-3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3787" y="3017520"/>
            <a:ext cx="160020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8027" y="3291840"/>
            <a:ext cx="233172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Georgia"/>
              </a:rPr>
              <a:t>LEAD-ATTRIBUTION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9467" y="4572000"/>
            <a:ext cx="214884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Arial"/>
              </a:rPr>
              <a:t>Tilføj supplier_id til quote_submit · partner_leads tabel · partner_subscriptions tabel · MAU-query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29787" y="2103120"/>
            <a:ext cx="2697480" cy="4023360"/>
          </a:xfrm>
          <a:prstGeom prst="roundRect">
            <a:avLst/>
          </a:prstGeom>
          <a:solidFill>
            <a:srgbClr val="4F6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04107" y="2468880"/>
            <a:ext cx="21488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Uge 4-6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78427" y="3017520"/>
            <a:ext cx="160020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12667" y="3291840"/>
            <a:ext cx="233172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Georgia"/>
              </a:rPr>
              <a:t>BUYER CONVERSION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4107" y="4572000"/>
            <a:ext cx="214884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Arial"/>
              </a:rPr>
              <a:t>Quote-form-UX · CTA-tests · STL-flow · lift quote-submit fra 0,25% → 0,5% = 2× lead-revenue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4427" y="2103120"/>
            <a:ext cx="2697480" cy="4023360"/>
          </a:xfrm>
          <a:prstGeom prst="roundRect">
            <a:avLst/>
          </a:prstGeom>
          <a:solidFill>
            <a:srgbClr val="6B8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38747" y="2468880"/>
            <a:ext cx="21488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Uge 7-9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13067" y="3017520"/>
            <a:ext cx="160020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47307" y="3291840"/>
            <a:ext cx="233172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Georgia"/>
              </a:rPr>
              <a:t>BUYER TOP-OF-FUNNEL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38747" y="4572000"/>
            <a:ext cx="214884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Arial"/>
              </a:rPr>
              <a:t>SEO-content · Compare-prices-side · landing pages · hæv MAU fra X → 10k for mere lead-volumen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99067" y="2103120"/>
            <a:ext cx="2697480" cy="4023360"/>
          </a:xfrm>
          <a:prstGeom prst="roundRect">
            <a:avLst/>
          </a:prstGeom>
          <a:solidFill>
            <a:srgbClr val="E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73387" y="2468880"/>
            <a:ext cx="21488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Uge 10-12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547707" y="3017520"/>
            <a:ext cx="160020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81947" y="3291840"/>
            <a:ext cx="233172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Georgia"/>
              </a:rPr>
              <a:t>SUPPLIER OUTREACH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73387" y="4572000"/>
            <a:ext cx="214884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Arial"/>
              </a:rPr>
              <a:t>Outreach til top-25 suppliers · vis dem leads-rapport · få 3 nye $600/år-kontrakter underskrevet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6263640"/>
            <a:ext cx="10881360" cy="457200"/>
          </a:xfrm>
          <a:prstGeom prst="roundRect">
            <a:avLst/>
          </a:prstGeom>
          <a:solidFill>
            <a:srgbClr val="4F6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626364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EFTER 90 DAGE:  4 nye partnere × $600 = $2.400 booked  ·  0,5% quote-conversion  ·  ~$1.250/md lead-revenue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Georgia"/>
              </a:rPr>
              <a:t>Datakilder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11277295" y="0"/>
            <a:ext cx="914400" cy="1280160"/>
          </a:xfrm>
          <a:prstGeom prst="rect">
            <a:avLst/>
          </a:prstGeom>
          <a:solidFill>
            <a:srgbClr val="6B8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77295" y="228600"/>
            <a:ext cx="91440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Georgia"/>
              </a:rPr>
              <a:t>12</a:t>
            </a:r>
          </a:p>
        </p:txBody>
      </p:sp>
      <p:pic>
        <p:nvPicPr>
          <p:cNvPr id="6" name="Picture 5" descr="amsupplycheck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11480"/>
            <a:ext cx="685800" cy="4572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1280160"/>
            <a:ext cx="12191695" cy="55778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08760"/>
            <a:ext cx="11277295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Arial"/>
              </a:rPr>
              <a:t>Hvor henter jeg hver KPI fra — kode-referencer + dashboards.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567" y="2103120"/>
            <a:ext cx="3657600" cy="4114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6567" y="2103120"/>
            <a:ext cx="3657600" cy="137160"/>
          </a:xfrm>
          <a:prstGeom prst="rect">
            <a:avLst/>
          </a:prstGeom>
          <a:solidFill>
            <a:srgbClr val="6B8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0887" y="2468880"/>
            <a:ext cx="310896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Georgia"/>
              </a:rPr>
              <a:t>KPI #1-6 (Buyer-funnel)</a:t>
            </a:r>
          </a:p>
        </p:txBody>
      </p:sp>
      <p:sp>
        <p:nvSpPr>
          <p:cNvPr id="12" name="Oval 11"/>
          <p:cNvSpPr/>
          <p:nvPr/>
        </p:nvSpPr>
        <p:spPr>
          <a:xfrm>
            <a:off x="792327" y="3337560"/>
            <a:ext cx="109728" cy="109728"/>
          </a:xfrm>
          <a:prstGeom prst="ellipse">
            <a:avLst/>
          </a:prstGeom>
          <a:solidFill>
            <a:srgbClr val="6B8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0927" y="3200400"/>
            <a:ext cx="288036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Arial"/>
              </a:rPr>
              <a:t>src/lib/analytics.ts:13-30 — HIGH_SIGNAL_EVENTS</a:t>
            </a:r>
          </a:p>
        </p:txBody>
      </p:sp>
      <p:sp>
        <p:nvSpPr>
          <p:cNvPr id="14" name="Oval 13"/>
          <p:cNvSpPr/>
          <p:nvPr/>
        </p:nvSpPr>
        <p:spPr>
          <a:xfrm>
            <a:off x="792327" y="3977640"/>
            <a:ext cx="109728" cy="109728"/>
          </a:xfrm>
          <a:prstGeom prst="ellipse">
            <a:avLst/>
          </a:prstGeom>
          <a:solidFill>
            <a:srgbClr val="6B8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0927" y="3840480"/>
            <a:ext cx="288036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Arial"/>
              </a:rPr>
              <a:t>src/hooks/use-funnel-data.ts:29-83 — funnel-beregning</a:t>
            </a:r>
          </a:p>
        </p:txBody>
      </p:sp>
      <p:sp>
        <p:nvSpPr>
          <p:cNvPr id="16" name="Oval 15"/>
          <p:cNvSpPr/>
          <p:nvPr/>
        </p:nvSpPr>
        <p:spPr>
          <a:xfrm>
            <a:off x="792327" y="4617720"/>
            <a:ext cx="109728" cy="109728"/>
          </a:xfrm>
          <a:prstGeom prst="ellipse">
            <a:avLst/>
          </a:prstGeom>
          <a:solidFill>
            <a:srgbClr val="6B8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0927" y="4480560"/>
            <a:ext cx="288036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Arial"/>
              </a:rPr>
              <a:t>src/hooks/use-ga4-funnel.ts — GA4 integration</a:t>
            </a:r>
          </a:p>
        </p:txBody>
      </p:sp>
      <p:sp>
        <p:nvSpPr>
          <p:cNvPr id="18" name="Oval 17"/>
          <p:cNvSpPr/>
          <p:nvPr/>
        </p:nvSpPr>
        <p:spPr>
          <a:xfrm>
            <a:off x="792327" y="5257800"/>
            <a:ext cx="109728" cy="109728"/>
          </a:xfrm>
          <a:prstGeom prst="ellipse">
            <a:avLst/>
          </a:prstGeom>
          <a:solidFill>
            <a:srgbClr val="6B8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0927" y="5120640"/>
            <a:ext cx="288036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Arial"/>
              </a:rPr>
              <a:t>Dashboard: /admin/data-overview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67047" y="2103120"/>
            <a:ext cx="3657600" cy="4114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67047" y="2103120"/>
            <a:ext cx="3657600" cy="137160"/>
          </a:xfrm>
          <a:prstGeom prst="rect">
            <a:avLst/>
          </a:prstGeom>
          <a:solidFill>
            <a:srgbClr val="4F6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41367" y="2468880"/>
            <a:ext cx="310896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Georgia"/>
              </a:rPr>
              <a:t>KPI #7-10 (Supplier-funnel)</a:t>
            </a:r>
          </a:p>
        </p:txBody>
      </p:sp>
      <p:sp>
        <p:nvSpPr>
          <p:cNvPr id="23" name="Oval 22"/>
          <p:cNvSpPr/>
          <p:nvPr/>
        </p:nvSpPr>
        <p:spPr>
          <a:xfrm>
            <a:off x="4632807" y="3337560"/>
            <a:ext cx="109728" cy="109728"/>
          </a:xfrm>
          <a:prstGeom prst="ellipse">
            <a:avLst/>
          </a:prstGeom>
          <a:solidFill>
            <a:srgbClr val="4F6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61407" y="3200400"/>
            <a:ext cx="288036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Arial"/>
              </a:rPr>
              <a:t>suppliers tabel — is_partner boolean kolonne</a:t>
            </a:r>
          </a:p>
        </p:txBody>
      </p:sp>
      <p:sp>
        <p:nvSpPr>
          <p:cNvPr id="25" name="Oval 24"/>
          <p:cNvSpPr/>
          <p:nvPr/>
        </p:nvSpPr>
        <p:spPr>
          <a:xfrm>
            <a:off x="4632807" y="3977640"/>
            <a:ext cx="109728" cy="109728"/>
          </a:xfrm>
          <a:prstGeom prst="ellipse">
            <a:avLst/>
          </a:prstGeom>
          <a:solidFill>
            <a:srgbClr val="4F6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61407" y="3840480"/>
            <a:ext cx="288036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Arial"/>
              </a:rPr>
              <a:t>src/pages/admin/Admin.tsx — supplier inventory panel</a:t>
            </a:r>
          </a:p>
        </p:txBody>
      </p:sp>
      <p:sp>
        <p:nvSpPr>
          <p:cNvPr id="27" name="Oval 26"/>
          <p:cNvSpPr/>
          <p:nvPr/>
        </p:nvSpPr>
        <p:spPr>
          <a:xfrm>
            <a:off x="4632807" y="4617720"/>
            <a:ext cx="109728" cy="109728"/>
          </a:xfrm>
          <a:prstGeom prst="ellipse">
            <a:avLst/>
          </a:prstGeom>
          <a:solidFill>
            <a:srgbClr val="4F6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61407" y="4480560"/>
            <a:ext cx="288036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Arial"/>
              </a:rPr>
              <a:t>Outreach-CRM: manuelt regneark (TBD)</a:t>
            </a:r>
          </a:p>
        </p:txBody>
      </p:sp>
      <p:sp>
        <p:nvSpPr>
          <p:cNvPr id="29" name="Oval 28"/>
          <p:cNvSpPr/>
          <p:nvPr/>
        </p:nvSpPr>
        <p:spPr>
          <a:xfrm>
            <a:off x="4632807" y="5257800"/>
            <a:ext cx="109728" cy="109728"/>
          </a:xfrm>
          <a:prstGeom prst="ellipse">
            <a:avLst/>
          </a:prstGeom>
          <a:solidFill>
            <a:srgbClr val="4F6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61407" y="5120640"/>
            <a:ext cx="288036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Arial"/>
              </a:rPr>
              <a:t>Dashboard: /admin (Suppliers-fane)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07527" y="2103120"/>
            <a:ext cx="3657600" cy="4114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07527" y="2103120"/>
            <a:ext cx="3657600" cy="137160"/>
          </a:xfrm>
          <a:prstGeom prst="rect">
            <a:avLst/>
          </a:prstGeom>
          <a:solidFill>
            <a:srgbClr val="E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81847" y="2468880"/>
            <a:ext cx="310896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Georgia"/>
              </a:rPr>
              <a:t>KPI #5/#10/#11 (Revenue) — BYG</a:t>
            </a:r>
          </a:p>
        </p:txBody>
      </p:sp>
      <p:sp>
        <p:nvSpPr>
          <p:cNvPr id="34" name="Oval 33"/>
          <p:cNvSpPr/>
          <p:nvPr/>
        </p:nvSpPr>
        <p:spPr>
          <a:xfrm>
            <a:off x="8473287" y="3337560"/>
            <a:ext cx="109728" cy="109728"/>
          </a:xfrm>
          <a:prstGeom prst="ellipse">
            <a:avLst/>
          </a:prstGeom>
          <a:solidFill>
            <a:srgbClr val="E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701887" y="3200400"/>
            <a:ext cx="288036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Arial"/>
              </a:rPr>
              <a:t>partner_subscriptions: supplier_id, paid_at, expires_at, $600</a:t>
            </a:r>
          </a:p>
        </p:txBody>
      </p:sp>
      <p:sp>
        <p:nvSpPr>
          <p:cNvPr id="36" name="Oval 35"/>
          <p:cNvSpPr/>
          <p:nvPr/>
        </p:nvSpPr>
        <p:spPr>
          <a:xfrm>
            <a:off x="8473287" y="3977640"/>
            <a:ext cx="109728" cy="109728"/>
          </a:xfrm>
          <a:prstGeom prst="ellipse">
            <a:avLst/>
          </a:prstGeom>
          <a:solidFill>
            <a:srgbClr val="E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701887" y="3840480"/>
            <a:ext cx="288036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Arial"/>
              </a:rPr>
              <a:t>partner_leads: quote_event_id → supplier_id → $50</a:t>
            </a:r>
          </a:p>
        </p:txBody>
      </p:sp>
      <p:sp>
        <p:nvSpPr>
          <p:cNvPr id="38" name="Oval 37"/>
          <p:cNvSpPr/>
          <p:nvPr/>
        </p:nvSpPr>
        <p:spPr>
          <a:xfrm>
            <a:off x="8473287" y="4617720"/>
            <a:ext cx="109728" cy="109728"/>
          </a:xfrm>
          <a:prstGeom prst="ellipse">
            <a:avLst/>
          </a:prstGeom>
          <a:solidFill>
            <a:srgbClr val="E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01887" y="4480560"/>
            <a:ext cx="288036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Arial"/>
              </a:rPr>
              <a:t>Manuel fakturering (Stripe senere)</a:t>
            </a:r>
          </a:p>
        </p:txBody>
      </p:sp>
      <p:sp>
        <p:nvSpPr>
          <p:cNvPr id="40" name="Oval 39"/>
          <p:cNvSpPr/>
          <p:nvPr/>
        </p:nvSpPr>
        <p:spPr>
          <a:xfrm>
            <a:off x="8473287" y="5257800"/>
            <a:ext cx="109728" cy="109728"/>
          </a:xfrm>
          <a:prstGeom prst="ellipse">
            <a:avLst/>
          </a:prstGeom>
          <a:solidFill>
            <a:srgbClr val="E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1887" y="5120640"/>
            <a:ext cx="288036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Arial"/>
              </a:rPr>
              <a:t>Vises på: /admin/data-overview (ny sektion)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